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container-registry/container-registry-intr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azure/container-registry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19500" y="1524000"/>
            <a:ext cx="6096000" cy="6096000"/>
          </a:xfrm>
          <a:prstGeom prst="ellipse">
            <a:avLst/>
          </a:prstGeom>
          <a:solidFill>
            <a:srgbClr val="1A3A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77000" y="1714500"/>
            <a:ext cx="3810000" cy="3810000"/>
          </a:xfrm>
          <a:prstGeom prst="ellipse">
            <a:avLst/>
          </a:prstGeom>
          <a:solidFill>
            <a:srgbClr val="2A7A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05500" y="-952500"/>
            <a:ext cx="3810000" cy="3810000"/>
          </a:xfrm>
          <a:prstGeom prst="ellipse">
            <a:avLst/>
          </a:prstGeom>
          <a:gradFill rotWithShape="1">
            <a:gsLst>
              <a:gs pos="0">
                <a:srgbClr val="00D4FF">
                  <a:alpha val="12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571500" y="3048000"/>
            <a:ext cx="3429000" cy="3429000"/>
          </a:xfrm>
          <a:prstGeom prst="ellipse">
            <a:avLst/>
          </a:prstGeom>
          <a:gradFill rotWithShape="1">
            <a:gsLst>
              <a:gs pos="0">
                <a:srgbClr val="2A7A8C">
                  <a:alpha val="18000"/>
                </a:srgbClr>
              </a:gs>
              <a:gs pos="100000">
                <a:srgbClr val="2A7A8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81925" y="6381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2925" y="4476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96300" y="7810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15300" y="10191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01050" y="12096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34425" y="495300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7810500" y="476250"/>
            <a:ext cx="381000" cy="19050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91500" y="476250"/>
            <a:ext cx="333375" cy="333375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43875" y="809625"/>
            <a:ext cx="381000" cy="238125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810500" y="666750"/>
            <a:ext cx="333375" cy="38100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91500" y="476250"/>
            <a:ext cx="571500" cy="47625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429625" y="809625"/>
            <a:ext cx="95250" cy="428625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62000" y="1409700"/>
            <a:ext cx="495300" cy="419100"/>
          </a:xfrm>
          <a:prstGeom prst="roundRect">
            <a:avLst>
              <a:gd name="adj" fmla="val 9090"/>
            </a:avLst>
          </a:prstGeom>
          <a:solidFill>
            <a:srgbClr val="1A3A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9150" y="1476375"/>
            <a:ext cx="133350" cy="285750"/>
          </a:xfrm>
          <a:prstGeom prst="roundRect">
            <a:avLst>
              <a:gd name="adj" fmla="val 14285"/>
            </a:avLst>
          </a:prstGeom>
          <a:solidFill>
            <a:srgbClr val="00D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0600" y="1476375"/>
            <a:ext cx="133350" cy="285750"/>
          </a:xfrm>
          <a:prstGeom prst="roundRect">
            <a:avLst>
              <a:gd name="adj" fmla="val 14285"/>
            </a:avLst>
          </a:prstGeom>
          <a:solidFill>
            <a:srgbClr val="00D4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62050" y="1476375"/>
            <a:ext cx="57150" cy="285750"/>
          </a:xfrm>
          <a:prstGeom prst="roundRect">
            <a:avLst>
              <a:gd name="adj" fmla="val 33333"/>
            </a:avLst>
          </a:prstGeom>
          <a:solidFill>
            <a:srgbClr val="00D4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1929765"/>
            <a:ext cx="5808726" cy="5867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Segoe UI"/>
              </a:rPr>
              <a:t>Azure Container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603182"/>
            <a:ext cx="6171771" cy="2933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00D4FF"/>
                </a:solidFill>
                <a:latin typeface="Segoe UI"/>
              </a:rPr>
              <a:t>Manage, Build, and Secure Container Images at Scale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2000" y="2990850"/>
            <a:ext cx="2476500" cy="0"/>
          </a:xfrm>
          <a:prstGeom prst="line">
            <a:avLst/>
          </a:prstGeom>
          <a:ln w="381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2000" y="3223260"/>
            <a:ext cx="5456682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B0C4D8"/>
                </a:solidFill>
                <a:latin typeface="Segoe UI"/>
              </a:rPr>
              <a:t>A fully managed, private container registry on Microsoft 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451860"/>
            <a:ext cx="5016627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B0C4D8"/>
                </a:solidFill>
                <a:latin typeface="Segoe UI"/>
              </a:rPr>
              <a:t>supporting Docker images, OCI artifacts, and Helm charts.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39052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1A3A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158" y="3989070"/>
            <a:ext cx="66008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D4FF"/>
                </a:solidFill>
                <a:latin typeface="Segoe UI"/>
              </a:rPr>
              <a:t>Containers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71650" y="390525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A3A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54625" y="3989070"/>
            <a:ext cx="39604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D4FF"/>
                </a:solidFill>
                <a:latin typeface="Segoe UI"/>
              </a:rPr>
              <a:t>DevOps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8900" y="39052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1A3A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56058" y="3989070"/>
            <a:ext cx="66008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D4FF"/>
                </a:solidFill>
                <a:latin typeface="Segoe UI"/>
              </a:rPr>
              <a:t>Kubernetes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38550" y="390525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A3A4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55516" y="3989070"/>
            <a:ext cx="52806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D4FF"/>
                </a:solidFill>
                <a:latin typeface="Segoe UI"/>
              </a:rP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4657248"/>
            <a:ext cx="715089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March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876" y="4874895"/>
            <a:ext cx="99012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Microsoft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4719589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What is Azure Container Registry?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685800"/>
            <a:ext cx="9144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1000" y="858202"/>
            <a:ext cx="7805975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A managed, private OCI-compliant registry — store, manage, and deploy container images and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1123950"/>
            <a:ext cx="41148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000" y="1123950"/>
            <a:ext cx="4114800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1000" y="1295400"/>
            <a:ext cx="4114800" cy="17145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3875" y="1171575"/>
            <a:ext cx="247650" cy="247650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" y="1229677"/>
            <a:ext cx="26670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D4FF"/>
                </a:solidFill>
                <a:latin typeface="Segoe UI"/>
              </a:rP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1221581"/>
            <a:ext cx="1320165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Private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571148"/>
            <a:ext cx="302937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Fully managed, private Docker-compatible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1771173"/>
            <a:ext cx="171621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registry hosted in 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1971198"/>
            <a:ext cx="288636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Supports Docker images, OCI artifacts,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171223"/>
            <a:ext cx="107263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and Helm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2371248"/>
            <a:ext cx="3172396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Azure AD integration &amp; RBAC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2550795"/>
            <a:ext cx="217827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Tiers: Basic / Standard / Premium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8200" y="1123950"/>
            <a:ext cx="41148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48200" y="1123950"/>
            <a:ext cx="4114800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8200" y="1295400"/>
            <a:ext cx="4114800" cy="17145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91075" y="1171575"/>
            <a:ext cx="247650" cy="247650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1550" y="1229677"/>
            <a:ext cx="26670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D4FF"/>
                </a:solidFill>
                <a:latin typeface="Segoe UI"/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4450" y="1221581"/>
            <a:ext cx="1237654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Geo-Replication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1571148"/>
            <a:ext cx="324390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Replicate a single registry across multiple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1771173"/>
            <a:ext cx="20022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Azure regions (Premium tier)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971198"/>
            <a:ext cx="281485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Reduce latency &amp; increase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171223"/>
            <a:ext cx="214526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for globally distributed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371248"/>
            <a:ext cx="288636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Single registry URL across all regions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50795"/>
            <a:ext cx="171621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Available in: Premium tier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" y="2895600"/>
            <a:ext cx="41148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1000" y="2895600"/>
            <a:ext cx="4114800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" y="3067050"/>
            <a:ext cx="4114800" cy="171450"/>
          </a:xfrm>
          <a:prstGeom prst="rect">
            <a:avLst/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23875" y="2943225"/>
            <a:ext cx="247650" cy="247650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350" y="3001327"/>
            <a:ext cx="26670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D4FF"/>
                </a:solidFill>
                <a:latin typeface="Segoe UI"/>
              </a:rPr>
              <a:t>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2993231"/>
            <a:ext cx="272284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Security &amp; Vulnerability Scanning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3342798"/>
            <a:ext cx="281485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Integrated vulnerability scanning via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3542823"/>
            <a:ext cx="235979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Microsoft Defender for Containers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3742848"/>
            <a:ext cx="310088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Content trust &amp; image signing (Notary v2)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3942873"/>
            <a:ext cx="281485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Private endpoints &amp; network isolation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4312920"/>
            <a:ext cx="231028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Scanning: Premium / Defender add-on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48200" y="2895600"/>
            <a:ext cx="4114800" cy="161925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48200" y="2895600"/>
            <a:ext cx="4114800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067050"/>
            <a:ext cx="4114800" cy="171450"/>
          </a:xfrm>
          <a:prstGeom prst="rect">
            <a:avLst/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91075" y="2943225"/>
            <a:ext cx="247650" cy="247650"/>
          </a:xfrm>
          <a:prstGeom prst="ellipse">
            <a:avLst/>
          </a:prstGeom>
          <a:solidFill>
            <a:srgbClr val="00D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81550" y="3001327"/>
            <a:ext cx="26670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D4FF"/>
                </a:solidFill>
                <a:latin typeface="Segoe UI"/>
              </a:rPr>
              <a:t>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4450" y="2993231"/>
            <a:ext cx="2310288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ACR Tasks (Build Automation)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342798"/>
            <a:ext cx="310088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Cloud-based container image build &amp; patch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3542823"/>
            <a:ext cx="281485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Trigger builds on code commit or base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742848"/>
            <a:ext cx="200225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image update (auto-patching)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3942873"/>
            <a:ext cx="2671833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• Multi-step task pipelines supported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600" y="4312920"/>
            <a:ext cx="151818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Available in: All tiers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000" y="4921091"/>
            <a:ext cx="494511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  <a:hlinkClick r:id="rId2"/>
              </a:rPr>
              <a:t>📖 MS Learn: learn.microsoft.com/azure/container-registry/container-registry-intro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0462" y="4921091"/>
            <a:ext cx="30253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4147518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Key Use Cases &amp; Service Tiers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685800"/>
            <a:ext cx="9144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1000" y="822960"/>
            <a:ext cx="1408175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A4A"/>
                </a:solidFill>
                <a:latin typeface="Segoe UI"/>
              </a:rPr>
              <a:t>Common Use Cases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" y="1009650"/>
            <a:ext cx="17145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1000" y="10858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086802"/>
            <a:ext cx="200225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CI/CD Pipeline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274445"/>
            <a:ext cx="303637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Push images from GitHub Actions, Azure DevOps,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426845"/>
            <a:ext cx="273034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or Jenkins — pull directly to production.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16764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1677352"/>
            <a:ext cx="215626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Kubernetes &amp; AKS Deployments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864995"/>
            <a:ext cx="323440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Native integration with Azure Kubernetes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017395"/>
            <a:ext cx="290436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Pull images securely using managed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000" y="22669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2267902"/>
            <a:ext cx="192524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Multi-Region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455545"/>
            <a:ext cx="303637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Geo-replicate images worldwide for low-latency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607945"/>
            <a:ext cx="277234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pulls across global teams and deployments.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000" y="28575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858452"/>
            <a:ext cx="184823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Base Image Auto-Patching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046095"/>
            <a:ext cx="277234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ACR Tasks auto-rebuild images when base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198495"/>
            <a:ext cx="211226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images receive security updates.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34480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449002"/>
            <a:ext cx="223327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Artifact &amp; Helm Chart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636645"/>
            <a:ext cx="297037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Store OCI-compliant artifacts and Helm 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789045"/>
            <a:ext cx="283835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alongside container images in one registry.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781050"/>
            <a:ext cx="0" cy="3886200"/>
          </a:xfrm>
          <a:prstGeom prst="line">
            <a:avLst/>
          </a:prstGeom>
          <a:ln w="1905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800600" y="822960"/>
            <a:ext cx="2200275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A4A"/>
                </a:solidFill>
                <a:latin typeface="Segoe UI"/>
              </a:rPr>
              <a:t>Service Tiers at a Glance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0600" y="1009650"/>
            <a:ext cx="18669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00600" y="1085850"/>
            <a:ext cx="3962400" cy="85725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1B2A4A"/>
              </a:gs>
              <a:gs pos="100000">
                <a:srgbClr val="243660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1100" y="1203960"/>
            <a:ext cx="440055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Basic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1100" y="1445895"/>
            <a:ext cx="160820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10 GB included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1100" y="1617345"/>
            <a:ext cx="220227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Suitable for dev/test workloads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1100" y="1788795"/>
            <a:ext cx="253231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Standard Docker CLI / API compatible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2038350"/>
            <a:ext cx="3962400" cy="85725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1100" y="2156460"/>
            <a:ext cx="704087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1100" y="2398395"/>
            <a:ext cx="292836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100 GB included storage, higher throughput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1100" y="2569845"/>
            <a:ext cx="246630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Webhooks for event-driven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1100" y="2741295"/>
            <a:ext cx="180622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Most production workloads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00600" y="2990850"/>
            <a:ext cx="3962400" cy="1047750"/>
          </a:xfrm>
          <a:prstGeom prst="roundRect">
            <a:avLst>
              <a:gd name="adj" fmla="val 5454"/>
            </a:avLst>
          </a:prstGeom>
          <a:gradFill rotWithShape="1">
            <a:gsLst>
              <a:gs pos="0">
                <a:srgbClr val="1A3A4A"/>
              </a:gs>
              <a:gs pos="100000">
                <a:srgbClr val="00D4FF">
                  <a:alpha val="7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91100" y="3108960"/>
            <a:ext cx="616076" cy="213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Premium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3105150"/>
            <a:ext cx="685800" cy="190500"/>
          </a:xfrm>
          <a:prstGeom prst="roundRect">
            <a:avLst>
              <a:gd name="adj" fmla="val 50000"/>
            </a:avLst>
          </a:prstGeom>
          <a:solidFill>
            <a:srgbClr val="00D4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2308" y="3149441"/>
            <a:ext cx="66558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Recommended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1100" y="3350895"/>
            <a:ext cx="226828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500 GB storage + geo-replication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91100" y="3522345"/>
            <a:ext cx="233429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Private endpoints &amp; content trust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1100" y="3693795"/>
            <a:ext cx="259832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Dedicated throughput &amp; SLA guarantees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91100" y="3865245"/>
            <a:ext cx="226828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Defender for Containers scanning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4171950"/>
            <a:ext cx="3962400" cy="419100"/>
          </a:xfrm>
          <a:prstGeom prst="roundRect">
            <a:avLst>
              <a:gd name="adj" fmla="val 13636"/>
            </a:avLst>
          </a:prstGeom>
          <a:solidFill>
            <a:srgbClr val="E0F7FA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91100" y="4246245"/>
            <a:ext cx="112214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A3A4A"/>
                </a:solidFill>
                <a:latin typeface="Segoe UI"/>
              </a:rPr>
              <a:t>Quick Start (CLI)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91100" y="4425791"/>
            <a:ext cx="320690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2A7A8C"/>
                </a:solidFill>
                <a:latin typeface="Courier New"/>
              </a:rPr>
              <a:t>az acr create --name mycompanyregistry --sku Standard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" y="4921091"/>
            <a:ext cx="343242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  <a:hlinkClick r:id="rId2"/>
              </a:rPr>
              <a:t>📖 MS Learn: learn.microsoft.com/azure/container-registry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0462" y="4921091"/>
            <a:ext cx="30253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