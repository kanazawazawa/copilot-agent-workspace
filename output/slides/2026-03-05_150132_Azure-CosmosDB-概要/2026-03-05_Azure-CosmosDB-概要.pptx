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cosmos-db/introducti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cosmos-db/introducti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cosmos-db/use-case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1905000"/>
            <a:ext cx="5334000" cy="5334000"/>
          </a:xfrm>
          <a:prstGeom prst="ellipse">
            <a:avLst/>
          </a:prstGeom>
          <a:solidFill>
            <a:srgbClr val="1A3A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3238500"/>
            <a:ext cx="3429000" cy="3429000"/>
          </a:xfrm>
          <a:prstGeom prst="ellipse">
            <a:avLst/>
          </a:prstGeom>
          <a:solidFill>
            <a:srgbClr val="2A7A8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34000" y="-1524000"/>
            <a:ext cx="4953000" cy="4953000"/>
          </a:xfrm>
          <a:prstGeom prst="ellipse">
            <a:avLst/>
          </a:prstGeom>
          <a:solidFill>
            <a:srgbClr val="1A3A4A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8500" y="-952500"/>
            <a:ext cx="3048000" cy="3048000"/>
          </a:xfrm>
          <a:prstGeom prst="ellipse">
            <a:avLst/>
          </a:prstGeom>
          <a:solidFill>
            <a:srgbClr val="2A7A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00750" y="-952500"/>
            <a:ext cx="4191000" cy="4191000"/>
          </a:xfrm>
          <a:prstGeom prst="ellipse">
            <a:avLst/>
          </a:prstGeom>
          <a:gradFill rotWithShape="1">
            <a:gsLst>
              <a:gs pos="0">
                <a:srgbClr val="00D4FF">
                  <a:alpha val="12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10425" y="54292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91425" y="35242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72425" y="6381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81925" y="923925"/>
            <a:ext cx="57150" cy="5715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0925" y="8286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7239000" y="381000"/>
            <a:ext cx="381000" cy="19050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20000" y="381000"/>
            <a:ext cx="381000" cy="28575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810500" y="666750"/>
            <a:ext cx="190500" cy="28575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429500" y="857250"/>
            <a:ext cx="381000" cy="9525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239000" y="571500"/>
            <a:ext cx="190500" cy="28575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28687" y="4452937"/>
            <a:ext cx="47625" cy="47625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09687" y="4643437"/>
            <a:ext cx="47625" cy="47625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14437" y="4262437"/>
            <a:ext cx="47625" cy="47625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52500" y="4476750"/>
            <a:ext cx="381000" cy="19050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238250" y="4286250"/>
            <a:ext cx="95250" cy="38100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71500" y="152400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625" y="1739265"/>
            <a:ext cx="3630453" cy="586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Azure Cosmos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2380297"/>
            <a:ext cx="1976246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>
                <a:solidFill>
                  <a:srgbClr val="00D4FF"/>
                </a:solidFill>
                <a:latin typeface="Segoe UI"/>
              </a:rPr>
              <a:t>概要・入門ガイド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9625" y="2809875"/>
            <a:ext cx="2428875" cy="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9625" y="3021806"/>
            <a:ext cx="2850356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>
                <a:solidFill>
                  <a:srgbClr val="B0C4D8"/>
                </a:solidFill>
                <a:latin typeface="Segoe UI"/>
              </a:rPr>
              <a:t>次世代グローバル分散データベースサービス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3259931"/>
            <a:ext cx="3330416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>
                <a:solidFill>
                  <a:srgbClr val="B0C4D8"/>
                </a:solidFill>
                <a:latin typeface="Segoe UI"/>
              </a:rPr>
              <a:t>マルチモデル対応・99.999% SLA・無制限スケール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561998"/>
            <a:ext cx="60457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2026年3月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5386" y="4882991"/>
            <a:ext cx="90761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Microsoft Azure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4872037"/>
            <a:ext cx="2030253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詳細: MS Learn — Azure Cosmos DB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27647"/>
            <a:ext cx="4355544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Azure Cosmos DB ─ 主要機能・特徴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55" y="332898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B0C4D8"/>
                </a:solidFill>
                <a:latin typeface="Segoe UI"/>
              </a:rPr>
              <a:t>2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20102"/>
            <a:ext cx="353544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エンタープライズグレードの4大機能でビジネスを加速する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" y="10287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750" y="1123950"/>
            <a:ext cx="2000250" cy="371475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5750" y="1123950"/>
            <a:ext cx="2000250" cy="495300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750" y="1409700"/>
            <a:ext cx="2000250" cy="20955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0125" y="1666875"/>
            <a:ext cx="571500" cy="5715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4425" y="1781175"/>
            <a:ext cx="342900" cy="342900"/>
          </a:xfrm>
          <a:prstGeom prst="ellipse">
            <a:avLst/>
          </a:prstGeom>
          <a:noFill/>
          <a:ln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9675" y="1781175"/>
            <a:ext cx="152400" cy="3429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14425" y="1952625"/>
            <a:ext cx="34290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7062" y="2297906"/>
            <a:ext cx="997624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グローバル分散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" y="2495550"/>
            <a:ext cx="142875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6250" y="2617470"/>
            <a:ext cx="162620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世界 60+ リージョンに展開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836545"/>
            <a:ext cx="147618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1クリックでレプリカ追加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3055620"/>
            <a:ext cx="15241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自動フェイルオーバー対応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" y="3274695"/>
            <a:ext cx="15241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マルチリージョン書き込み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3493770"/>
            <a:ext cx="141017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データ主権・コンプライ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3665220"/>
            <a:ext cx="9121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アンス要件に対応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083" y="4578191"/>
            <a:ext cx="66558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SLA 99.999%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6500" y="1123950"/>
            <a:ext cx="2000250" cy="371475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76500" y="1123950"/>
            <a:ext cx="2000250" cy="495300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76500" y="1409700"/>
            <a:ext cx="2000250" cy="20955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90875" y="1666875"/>
            <a:ext cx="571500" cy="571500"/>
          </a:xfrm>
          <a:prstGeom prst="ellipse">
            <a:avLst/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33750" y="1800225"/>
            <a:ext cx="285750" cy="1143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33750" y="1857375"/>
            <a:ext cx="0" cy="19050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19500" y="1857375"/>
            <a:ext cx="0" cy="19050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333750" y="1990725"/>
            <a:ext cx="285750" cy="1143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6553" y="2297906"/>
            <a:ext cx="1140142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マルチモデル対応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62250" y="2495550"/>
            <a:ext cx="142875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667000" y="2617470"/>
            <a:ext cx="136817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NoSQL (ドキュメント)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7000" y="2836545"/>
            <a:ext cx="115814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グラフ (Gremlin)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7000" y="3055620"/>
            <a:ext cx="84010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キーバリュー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7000" y="3274695"/>
            <a:ext cx="87610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テーブル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7000" y="3493770"/>
            <a:ext cx="111013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PostgreSQL 互換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8586" y="4578191"/>
            <a:ext cx="61607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5種類の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7250" y="1123950"/>
            <a:ext cx="2000250" cy="371475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67250" y="1123950"/>
            <a:ext cx="2000250" cy="495300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7250" y="1409700"/>
            <a:ext cx="2000250" cy="209550"/>
          </a:xfrm>
          <a:prstGeom prst="rect">
            <a:avLst/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81625" y="1666875"/>
            <a:ext cx="571500" cy="571500"/>
          </a:xfrm>
          <a:prstGeom prst="ellipse">
            <a:avLst/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505450" y="1952625"/>
            <a:ext cx="323850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5810250" y="1895475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76200" y="5715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514975" y="1876425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514975" y="1971675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7303" y="2297906"/>
            <a:ext cx="1140142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低レイテンシ保証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53000" y="2495550"/>
            <a:ext cx="1428750" cy="0"/>
          </a:xfrm>
          <a:prstGeom prst="line">
            <a:avLst/>
          </a:prstGeom>
          <a:ln w="19050">
            <a:solidFill>
              <a:srgbClr val="2A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857750" y="2617470"/>
            <a:ext cx="140417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読み取り &lt;10ms (P99)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7750" y="2836545"/>
            <a:ext cx="140417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書き込み &lt;10ms (P99)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7750" y="3055620"/>
            <a:ext cx="99012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SLA による保証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7750" y="3274695"/>
            <a:ext cx="10681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自動スケーリング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57750" y="3493770"/>
            <a:ext cx="10681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サーバーレス対応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6092" y="4578191"/>
            <a:ext cx="52256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一桁ミリ秒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0" y="1123950"/>
            <a:ext cx="2000250" cy="371475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58000" y="1123950"/>
            <a:ext cx="2000250" cy="495300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2A7A8C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0" y="1409700"/>
            <a:ext cx="2000250" cy="209550"/>
          </a:xfrm>
          <a:prstGeom prst="rect">
            <a:avLst/>
          </a:prstGeom>
          <a:gradFill rotWithShape="1">
            <a:gsLst>
              <a:gs pos="0">
                <a:srgbClr val="2A7A8C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72375" y="1666875"/>
            <a:ext cx="571500" cy="571500"/>
          </a:xfrm>
          <a:prstGeom prst="ellipse">
            <a:avLst/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715250" y="1771650"/>
            <a:ext cx="285750" cy="323850"/>
          </a:xfrm>
          <a:custGeom>
            <a:avLst/>
            <a:gdLst/>
            <a:ahLst/>
            <a:cxnLst/>
            <a:rect l="l" t="t" r="r" b="b"/>
            <a:pathLst>
              <a:path w="285750" h="323850">
                <a:moveTo>
                  <a:pt x="142875" y="0"/>
                </a:moveTo>
                <a:lnTo>
                  <a:pt x="285750" y="66675"/>
                </a:lnTo>
                <a:lnTo>
                  <a:pt x="285750" y="209550"/>
                </a:lnTo>
                <a:lnTo>
                  <a:pt x="142875" y="323850"/>
                </a:lnTo>
                <a:lnTo>
                  <a:pt x="0" y="209550"/>
                </a:lnTo>
                <a:lnTo>
                  <a:pt x="0" y="66675"/>
                </a:lnTo>
                <a:lnTo>
                  <a:pt x="142875" y="0"/>
                </a:lnTo>
                <a:close/>
              </a:path>
            </a:pathLst>
          </a:custGeom>
          <a:ln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810500" y="1952625"/>
            <a:ext cx="38100" cy="47625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848600" y="1905000"/>
            <a:ext cx="76200" cy="9525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288053" y="2297906"/>
            <a:ext cx="1140142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エンタープライズ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30571" y="2469356"/>
            <a:ext cx="855106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セキュリティ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143750" y="2667000"/>
            <a:ext cx="142875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48500" y="2760345"/>
            <a:ext cx="141017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保存時・転送時の暗号化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8500" y="2979420"/>
            <a:ext cx="160820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RBAC / Microsoft Entra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8500" y="3198495"/>
            <a:ext cx="163820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プライベートエンドポイント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8500" y="3417570"/>
            <a:ext cx="15241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コンプライアンス認証取得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8500" y="3636645"/>
            <a:ext cx="10681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自動バックアップ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43810" y="4578191"/>
            <a:ext cx="102862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ISO / SOC / HIPAA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1000" y="4967287"/>
            <a:ext cx="237029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参考: MS Learn — Azure Cosmos DB の概要 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55386" y="4959191"/>
            <a:ext cx="90761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Microsoft Azure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27647"/>
            <a:ext cx="5837729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Azure Cosmos DB ─ ユースケースと導入メリット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55" y="332898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B0C4D8"/>
                </a:solidFill>
                <a:latin typeface="Segoe UI"/>
              </a:rPr>
              <a:t>3 /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20102"/>
            <a:ext cx="399049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様々な業界・ワークロードで選ばれるグローバル分散データベース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" y="10287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750" y="1123950"/>
            <a:ext cx="4191000" cy="3619500"/>
          </a:xfrm>
          <a:prstGeom prst="roundRect">
            <a:avLst>
              <a:gd name="adj" fmla="val 2631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95500" y="1333500"/>
            <a:ext cx="3429000" cy="3429000"/>
          </a:xfrm>
          <a:prstGeom prst="ellipse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5169" y="1310163"/>
            <a:ext cx="1292161" cy="2266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D4FF"/>
                </a:solidFill>
                <a:latin typeface="Segoe UI"/>
              </a:rPr>
              <a:t>主なユースケース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" y="1524000"/>
            <a:ext cx="3619500" cy="0"/>
          </a:xfrm>
          <a:prstGeom prst="line">
            <a:avLst/>
          </a:prstGeom>
          <a:ln w="19050">
            <a:solidFill>
              <a:srgbClr val="00D4F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85775" y="1695450"/>
            <a:ext cx="266700" cy="266700"/>
          </a:xfrm>
          <a:prstGeom prst="ellipse">
            <a:avLst/>
          </a:prstGeom>
          <a:solidFill>
            <a:srgbClr val="2A7A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" y="1771173"/>
            <a:ext cx="2476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1677352"/>
            <a:ext cx="81910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EC・リテール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1874520"/>
            <a:ext cx="25083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商品カタログ・カート・注文管理を低遅延で処理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875" y="2095500"/>
            <a:ext cx="3810000" cy="0"/>
          </a:xfrm>
          <a:prstGeom prst="line">
            <a:avLst/>
          </a:prstGeom>
          <a:ln w="12700">
            <a:solidFill>
              <a:srgbClr val="1A3A4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5775" y="2219325"/>
            <a:ext cx="266700" cy="266700"/>
          </a:xfrm>
          <a:prstGeom prst="ellipse">
            <a:avLst/>
          </a:prstGeom>
          <a:solidFill>
            <a:srgbClr val="2A7A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" y="2295048"/>
            <a:ext cx="2476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2201227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ゲーム・エンタメ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2398395"/>
            <a:ext cx="25083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リアルタイムランキング・プレイヤーデータ管理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3875" y="2619375"/>
            <a:ext cx="3810000" cy="0"/>
          </a:xfrm>
          <a:prstGeom prst="line">
            <a:avLst/>
          </a:prstGeom>
          <a:ln w="12700">
            <a:solidFill>
              <a:srgbClr val="1A3A4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5775" y="2743200"/>
            <a:ext cx="266700" cy="266700"/>
          </a:xfrm>
          <a:prstGeom prst="ellipse">
            <a:avLst/>
          </a:prstGeom>
          <a:solidFill>
            <a:srgbClr val="2A7A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" y="2818923"/>
            <a:ext cx="2476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725102"/>
            <a:ext cx="102912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IoT・テレメトリ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2922270"/>
            <a:ext cx="193824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デバイスデータの高速取り込みと分析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875" y="3143250"/>
            <a:ext cx="3810000" cy="0"/>
          </a:xfrm>
          <a:prstGeom prst="line">
            <a:avLst/>
          </a:prstGeom>
          <a:ln w="12700">
            <a:solidFill>
              <a:srgbClr val="1A3A4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5775" y="3267075"/>
            <a:ext cx="266700" cy="266700"/>
          </a:xfrm>
          <a:prstGeom prst="ellipse">
            <a:avLst/>
          </a:prstGeom>
          <a:solidFill>
            <a:srgbClr val="2A7A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300" y="3342798"/>
            <a:ext cx="2476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3248977"/>
            <a:ext cx="93811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金融・FinTech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3446145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トランザクション処理・不正検知・リスク管理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3875" y="3667125"/>
            <a:ext cx="3810000" cy="0"/>
          </a:xfrm>
          <a:prstGeom prst="line">
            <a:avLst/>
          </a:prstGeom>
          <a:ln w="12700">
            <a:solidFill>
              <a:srgbClr val="1A3A4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85775" y="3790950"/>
            <a:ext cx="266700" cy="266700"/>
          </a:xfrm>
          <a:prstGeom prst="ellipse">
            <a:avLst/>
          </a:prstGeom>
          <a:solidFill>
            <a:srgbClr val="2A7A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300" y="3866673"/>
            <a:ext cx="2476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3772852"/>
            <a:ext cx="66508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ヘルスケア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3970020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患者データ・医療記録の安全なグローバル共有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3875" y="4238625"/>
            <a:ext cx="3810000" cy="0"/>
          </a:xfrm>
          <a:prstGeom prst="line">
            <a:avLst/>
          </a:prstGeom>
          <a:ln w="19050">
            <a:solidFill>
              <a:srgbClr val="2A7A8C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7290" y="4390548"/>
            <a:ext cx="334791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B0C4D8"/>
                </a:solidFill>
                <a:latin typeface="Segoe UI"/>
              </a:rPr>
              <a:t>OpenAI / LinkedIn / Xbox / Skype 等で採用実績あり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7750" y="1195863"/>
            <a:ext cx="969121" cy="2266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E2328"/>
                </a:solidFill>
                <a:latin typeface="Segoe UI"/>
              </a:rPr>
              <a:t>導入メリット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57750" y="1409700"/>
            <a:ext cx="40005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857750" y="1504950"/>
            <a:ext cx="4000500" cy="6858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57750" y="1504950"/>
            <a:ext cx="47625" cy="685800"/>
          </a:xfrm>
          <a:prstGeom prst="roundRect">
            <a:avLst>
              <a:gd name="adj" fmla="val 4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8250" y="1620202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運用コストの削減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8250" y="1826895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インフラ管理不要のフルマネージドサービス。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8250" y="1998345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パッチ適用・バックアップ・スケールを自動化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57750" y="2286000"/>
            <a:ext cx="4000500" cy="6858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57750" y="2286000"/>
            <a:ext cx="47625" cy="685800"/>
          </a:xfrm>
          <a:prstGeom prst="roundRect">
            <a:avLst>
              <a:gd name="adj" fmla="val 4000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8250" y="2401252"/>
            <a:ext cx="119714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柔軟なスケーリング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8250" y="2607945"/>
            <a:ext cx="25083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秒単位での RU (Request Unit) 調整が可能。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2779395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サーバーレス課金で小規模から大規模まで対応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57750" y="3067050"/>
            <a:ext cx="4000500" cy="6858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57750" y="3067050"/>
            <a:ext cx="47625" cy="685800"/>
          </a:xfrm>
          <a:prstGeom prst="roundRect">
            <a:avLst>
              <a:gd name="adj" fmla="val 4000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8250" y="3182302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開発生産性の向上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8250" y="3388995"/>
            <a:ext cx="306038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SDK は .NET / Java / Python / Node.js 等に対応。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48250" y="3560445"/>
            <a:ext cx="271833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Azure OpenAI との統合で AI アプリを迅速に構築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57750" y="3848100"/>
            <a:ext cx="4000500" cy="6858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FAFBFC"/>
              </a:gs>
              <a:gs pos="100000">
                <a:srgbClr val="EEF1F5"/>
              </a:gs>
            </a:gsLst>
            <a:lin ang="5400000" scaled="0"/>
          </a:gra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857750" y="3848100"/>
            <a:ext cx="47625" cy="685800"/>
          </a:xfrm>
          <a:prstGeom prst="roundRect">
            <a:avLst>
              <a:gd name="adj" fmla="val 4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48250" y="3963352"/>
            <a:ext cx="123915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業界最高水準の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8250" y="4170045"/>
            <a:ext cx="258032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可用性 99.999%・低レイテンシ・スループットを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8250" y="4341495"/>
            <a:ext cx="297037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財務保証 (SLA) で提供。ミッションクリティカルに最適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1000" y="4967287"/>
            <a:ext cx="2750343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参考: MS Learn — Azure Cosmos DB のユースケース 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5386" y="4959191"/>
            <a:ext cx="90761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Microsoft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