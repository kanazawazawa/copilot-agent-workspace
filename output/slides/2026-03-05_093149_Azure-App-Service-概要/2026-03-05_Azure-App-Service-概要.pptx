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ja-jp/azure/app-service/overview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ja-jp/azure/app-service/overview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ja-jp/azure/app-service/overview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ja-jp/azure/app-service/overview#built-in-languages-and-frameworks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ja-jp/azure/app-service/overview-hosting-plans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ja-jp/azure/app-service/deploy-staging-slots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ja-jp/azure/app-service/getting-started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ja-jp/azure/app-service/overview" TargetMode="External"/><Relationship Id="rId3" Type="http://schemas.openxmlformats.org/officeDocument/2006/relationships/hyperlink" Target="https://learn.microsoft.com/ja-jp/azure/app-service/overview-hosting-plans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D1B2A"/>
              </a:gs>
              <a:gs pos="100000">
                <a:srgbClr val="1B2A4A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429000" y="1714500"/>
            <a:ext cx="6096000" cy="6096000"/>
          </a:xfrm>
          <a:prstGeom prst="ellipse">
            <a:avLst/>
          </a:prstGeom>
          <a:solidFill>
            <a:srgbClr val="1A3A4A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286500" y="1905000"/>
            <a:ext cx="4191000" cy="4191000"/>
          </a:xfrm>
          <a:prstGeom prst="ellipse">
            <a:avLst/>
          </a:prstGeom>
          <a:solidFill>
            <a:srgbClr val="2A7A8C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905500" y="-952500"/>
            <a:ext cx="3810000" cy="3810000"/>
          </a:xfrm>
          <a:prstGeom prst="ellipse">
            <a:avLst/>
          </a:prstGeom>
          <a:gradFill rotWithShape="1">
            <a:gsLst>
              <a:gs pos="0">
                <a:srgbClr val="00D4FF">
                  <a:alpha val="12000"/>
                </a:srgbClr>
              </a:gs>
              <a:gs pos="100000">
                <a:srgbClr val="00D4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81925" y="638175"/>
            <a:ext cx="57150" cy="57150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162925" y="447675"/>
            <a:ext cx="57150" cy="57150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48675" y="828675"/>
            <a:ext cx="57150" cy="57150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20050" y="1066800"/>
            <a:ext cx="57150" cy="57150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305800" y="1209675"/>
            <a:ext cx="57150" cy="57150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V="1">
            <a:off x="7810500" y="476250"/>
            <a:ext cx="381000" cy="190500"/>
          </a:xfrm>
          <a:prstGeom prst="line">
            <a:avLst/>
          </a:prstGeom>
          <a:ln w="12700">
            <a:solidFill>
              <a:srgbClr val="FFFFFF">
                <a:alpha val="2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191500" y="476250"/>
            <a:ext cx="285750" cy="381000"/>
          </a:xfrm>
          <a:prstGeom prst="line">
            <a:avLst/>
          </a:prstGeom>
          <a:ln w="12700">
            <a:solidFill>
              <a:srgbClr val="FFFFFF">
                <a:alpha val="2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8048625" y="857250"/>
            <a:ext cx="428625" cy="238125"/>
          </a:xfrm>
          <a:prstGeom prst="line">
            <a:avLst/>
          </a:prstGeom>
          <a:ln w="12700">
            <a:solidFill>
              <a:srgbClr val="FFFFFF">
                <a:alpha val="2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7810500" y="666750"/>
            <a:ext cx="238125" cy="428625"/>
          </a:xfrm>
          <a:prstGeom prst="line">
            <a:avLst/>
          </a:prstGeom>
          <a:ln w="12700">
            <a:solidFill>
              <a:srgbClr val="FFFFFF">
                <a:alpha val="2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048625" y="1095375"/>
            <a:ext cx="285750" cy="142875"/>
          </a:xfrm>
          <a:prstGeom prst="line">
            <a:avLst/>
          </a:prstGeom>
          <a:ln w="12700">
            <a:solidFill>
              <a:srgbClr val="FFFFFF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71500" y="1524000"/>
            <a:ext cx="38100" cy="1714500"/>
          </a:xfrm>
          <a:prstGeom prst="rect">
            <a:avLst/>
          </a:prstGeom>
          <a:solidFill>
            <a:srgbClr val="00D4F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000" y="1660207"/>
            <a:ext cx="3927490" cy="5600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50" b="1">
                <a:solidFill>
                  <a:srgbClr val="FFFFFF"/>
                </a:solidFill>
                <a:latin typeface="Segoe UI"/>
              </a:rPr>
              <a:t>Azure App Service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2282190"/>
            <a:ext cx="1596199" cy="3200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00D4FF"/>
                </a:solidFill>
                <a:latin typeface="Segoe UI"/>
              </a:rPr>
              <a:t>概要と主要機能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62000" y="2667000"/>
            <a:ext cx="2476500" cy="0"/>
          </a:xfrm>
          <a:prstGeom prst="line">
            <a:avLst/>
          </a:prstGeom>
          <a:ln w="254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62000" y="2907506"/>
            <a:ext cx="4545568" cy="2000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5">
                <a:solidFill>
                  <a:srgbClr val="B0C4D8"/>
                </a:solidFill>
                <a:latin typeface="Segoe UI"/>
              </a:rPr>
              <a:t>フルマネージド PaaS — Web アプリ・API・モバイルバックエンドを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3117056"/>
            <a:ext cx="2992874" cy="2000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5">
                <a:solidFill>
                  <a:srgbClr val="B0C4D8"/>
                </a:solidFill>
                <a:latin typeface="Segoe UI"/>
              </a:rPr>
              <a:t>インフラ管理不要で構築・デプロイ・スケール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000" y="3524250"/>
            <a:ext cx="1143000" cy="266700"/>
          </a:xfrm>
          <a:prstGeom prst="roundRect">
            <a:avLst>
              <a:gd name="adj" fmla="val 50000"/>
            </a:avLst>
          </a:prstGeom>
          <a:solidFill>
            <a:srgbClr val="1A3A4A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01483" y="3608070"/>
            <a:ext cx="264033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00D4FF"/>
                </a:solidFill>
                <a:latin typeface="Segoe UI"/>
              </a:rPr>
              <a:t>PaaS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47875" y="3524250"/>
            <a:ext cx="1333500" cy="266700"/>
          </a:xfrm>
          <a:prstGeom prst="roundRect">
            <a:avLst>
              <a:gd name="adj" fmla="val 50000"/>
            </a:avLst>
          </a:prstGeom>
          <a:solidFill>
            <a:srgbClr val="1A3A4A"/>
          </a:solidFill>
          <a:ln w="12700">
            <a:solidFill>
              <a:srgbClr val="2A7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15575" y="3608070"/>
            <a:ext cx="798099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B0C4D8"/>
                </a:solidFill>
                <a:latin typeface="Segoe UI"/>
              </a:rPr>
              <a:t>フルマネージド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24250" y="3524250"/>
            <a:ext cx="1524000" cy="266700"/>
          </a:xfrm>
          <a:prstGeom prst="roundRect">
            <a:avLst>
              <a:gd name="adj" fmla="val 50000"/>
            </a:avLst>
          </a:prstGeom>
          <a:solidFill>
            <a:srgbClr val="1A3A4A"/>
          </a:solidFill>
          <a:ln w="12700">
            <a:solidFill>
              <a:srgbClr val="2A7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56208" y="3608070"/>
            <a:ext cx="660082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B0C4D8"/>
                </a:solidFill>
                <a:latin typeface="Segoe UI"/>
              </a:rPr>
              <a:t>SLA 99.95%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000" y="4657248"/>
            <a:ext cx="604575" cy="173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>
                <a:solidFill>
                  <a:srgbClr val="8B939E"/>
                </a:solidFill>
                <a:latin typeface="Segoe UI"/>
              </a:rPr>
              <a:t>2026年3月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876" y="4903470"/>
            <a:ext cx="990123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8B939E"/>
                </a:solidFill>
                <a:latin typeface="Segoe UI"/>
              </a:rPr>
              <a:t>Microsoft Azure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2000" y="4919662"/>
            <a:ext cx="2085260" cy="1333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>
                <a:solidFill>
                  <a:srgbClr val="00D4FF"/>
                </a:solidFill>
                <a:latin typeface="Segoe UI"/>
                <a:hlinkClick r:id="rId2"/>
              </a:rPr>
              <a:t>📖 MS Learn — Azure App Service 概要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5F7FA"/>
              </a:gs>
              <a:gs pos="100000">
                <a:srgbClr val="EEF1F5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gradFill rotWithShape="1">
            <a:gsLst>
              <a:gs pos="0">
                <a:srgbClr val="0D1B2A"/>
              </a:gs>
              <a:gs pos="100000">
                <a:srgbClr val="1A3A4A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237172"/>
            <a:ext cx="3315414" cy="3467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FFFFFF"/>
                </a:solidFill>
                <a:latin typeface="Segoe UI"/>
              </a:rPr>
              <a:t>Azure App Service とは？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14955" y="342423"/>
            <a:ext cx="357544" cy="173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75">
                <a:solidFill>
                  <a:srgbClr val="8B939E"/>
                </a:solidFill>
                <a:latin typeface="Segoe UI"/>
              </a:rPr>
              <a:t>1 /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1000" y="904875"/>
            <a:ext cx="4191000" cy="352425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12700">
            <a:solidFill>
              <a:srgbClr val="C8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1000" y="904875"/>
            <a:ext cx="57150" cy="352425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9125" y="1119663"/>
            <a:ext cx="969121" cy="22669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75" b="1">
                <a:solidFill>
                  <a:srgbClr val="1E2328"/>
                </a:solidFill>
                <a:latin typeface="Segoe UI"/>
              </a:rPr>
              <a:t>サービス概要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9125" y="1333500"/>
            <a:ext cx="3762375" cy="0"/>
          </a:xfrm>
          <a:prstGeom prst="line">
            <a:avLst/>
          </a:prstGeom>
          <a:ln w="12700">
            <a:solidFill>
              <a:srgbClr val="C8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19125" y="1486852"/>
            <a:ext cx="1652206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4A5568"/>
                </a:solidFill>
                <a:latin typeface="Segoe UI"/>
              </a:rPr>
              <a:t>Azure App Service は、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125" y="1696402"/>
            <a:ext cx="2786348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4A5568"/>
                </a:solidFill>
                <a:latin typeface="Segoe UI"/>
              </a:rPr>
              <a:t>HTTP ベースのサービス（Web アプリ・API・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125" y="1905952"/>
            <a:ext cx="2660332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4A5568"/>
                </a:solidFill>
                <a:latin typeface="Segoe UI"/>
              </a:rPr>
              <a:t>モバイルバックエンド）をホストするための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125" y="2107406"/>
            <a:ext cx="2062757" cy="2000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1E2328"/>
                </a:solidFill>
                <a:latin typeface="Segoe UI"/>
              </a:rPr>
              <a:t>フルマネージド PaaS サービス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125" y="2325052"/>
            <a:ext cx="2800350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4A5568"/>
                </a:solidFill>
                <a:latin typeface="Segoe UI"/>
              </a:rPr>
              <a:t>です。サーバーやインフラの管理は Azure 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125" y="2534602"/>
            <a:ext cx="2660332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4A5568"/>
                </a:solidFill>
                <a:latin typeface="Segoe UI"/>
              </a:rPr>
              <a:t>担うため、開発者はコードに集中できます。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19125" y="2838450"/>
            <a:ext cx="3762375" cy="0"/>
          </a:xfrm>
          <a:prstGeom prst="line">
            <a:avLst/>
          </a:prstGeom>
          <a:ln w="12700">
            <a:solidFill>
              <a:srgbClr val="C8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76275" y="3028950"/>
            <a:ext cx="133350" cy="13335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700" y="3052762"/>
            <a:ext cx="190500" cy="1333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3450" y="3037998"/>
            <a:ext cx="3438929" cy="173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>
                <a:solidFill>
                  <a:srgbClr val="1E2328"/>
                </a:solidFill>
                <a:latin typeface="Segoe UI"/>
              </a:rPr>
              <a:t>多言語対応（.NET / Java / Node.js / Python / PHP）</a:t>
            </a:r>
          </a:p>
        </p:txBody>
      </p:sp>
      <p:sp>
        <p:nvSpPr>
          <p:cNvPr id="20" name="Oval 19"/>
          <p:cNvSpPr/>
          <p:nvPr/>
        </p:nvSpPr>
        <p:spPr>
          <a:xfrm>
            <a:off x="676275" y="3314700"/>
            <a:ext cx="133350" cy="13335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700" y="3338512"/>
            <a:ext cx="190500" cy="1333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3450" y="3323748"/>
            <a:ext cx="3126890" cy="173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>
                <a:solidFill>
                  <a:srgbClr val="1E2328"/>
                </a:solidFill>
                <a:latin typeface="Segoe UI"/>
              </a:rPr>
              <a:t>Windows / Linux 両対応・Docker カスタムコンテナ</a:t>
            </a:r>
          </a:p>
        </p:txBody>
      </p:sp>
      <p:sp>
        <p:nvSpPr>
          <p:cNvPr id="23" name="Oval 22"/>
          <p:cNvSpPr/>
          <p:nvPr/>
        </p:nvSpPr>
        <p:spPr>
          <a:xfrm>
            <a:off x="676275" y="3600450"/>
            <a:ext cx="133350" cy="13335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700" y="3624262"/>
            <a:ext cx="190500" cy="1333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3450" y="3609498"/>
            <a:ext cx="1404175" cy="173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>
                <a:solidFill>
                  <a:srgbClr val="1E2328"/>
                </a:solidFill>
                <a:latin typeface="Segoe UI"/>
              </a:rPr>
              <a:t>SLA 99.95% の高可用性</a:t>
            </a:r>
          </a:p>
        </p:txBody>
      </p:sp>
      <p:sp>
        <p:nvSpPr>
          <p:cNvPr id="26" name="Oval 25"/>
          <p:cNvSpPr/>
          <p:nvPr/>
        </p:nvSpPr>
        <p:spPr>
          <a:xfrm>
            <a:off x="676275" y="3886200"/>
            <a:ext cx="133350" cy="13335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700" y="3910012"/>
            <a:ext cx="190500" cy="1333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3450" y="3895248"/>
            <a:ext cx="2470308" cy="173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>
                <a:solidFill>
                  <a:srgbClr val="1E2328"/>
                </a:solidFill>
                <a:latin typeface="Segoe UI"/>
              </a:rPr>
              <a:t>グローバルスケール・自動スケーリング対応</a:t>
            </a:r>
          </a:p>
        </p:txBody>
      </p:sp>
      <p:sp>
        <p:nvSpPr>
          <p:cNvPr id="29" name="Oval 28"/>
          <p:cNvSpPr/>
          <p:nvPr/>
        </p:nvSpPr>
        <p:spPr>
          <a:xfrm>
            <a:off x="676275" y="4171950"/>
            <a:ext cx="133350" cy="13335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7700" y="4195762"/>
            <a:ext cx="190500" cy="1333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3450" y="4180998"/>
            <a:ext cx="2567820" cy="173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>
                <a:solidFill>
                  <a:srgbClr val="1E2328"/>
                </a:solidFill>
                <a:latin typeface="Segoe UI"/>
              </a:rPr>
              <a:t>GitHub / Azure DevOps との CI/CD 連携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57750" y="926306"/>
            <a:ext cx="1140142" cy="2000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1E2328"/>
                </a:solidFill>
                <a:latin typeface="Segoe UI"/>
              </a:rPr>
              <a:t>主なユースケース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857750" y="1143000"/>
            <a:ext cx="1905000" cy="9525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1B2A4A"/>
              </a:gs>
              <a:gs pos="100000">
                <a:srgbClr val="1A3A4A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43550" y="1202055"/>
            <a:ext cx="533400" cy="37337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>
                <a:solidFill>
                  <a:srgbClr val="FFFFFF"/>
                </a:solidFill>
                <a:latin typeface="Segoe UI"/>
              </a:rPr>
              <a:t>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56705" y="1582102"/>
            <a:ext cx="707088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Web アプリ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36415" y="1796891"/>
            <a:ext cx="1347668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B0C4D8"/>
                </a:solidFill>
                <a:latin typeface="Segoe UI"/>
              </a:rPr>
              <a:t>社内・社外向け Web サイト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53250" y="1143000"/>
            <a:ext cx="1905000" cy="9525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1B2A4A"/>
              </a:gs>
              <a:gs pos="100000">
                <a:srgbClr val="1A3A4A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39050" y="1202055"/>
            <a:ext cx="533400" cy="37337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>
                <a:solidFill>
                  <a:srgbClr val="FFFFFF"/>
                </a:solidFill>
                <a:latin typeface="Segoe UI"/>
              </a:rPr>
              <a:t>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97711" y="1582102"/>
            <a:ext cx="616077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REST API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26415" y="1796891"/>
            <a:ext cx="1358669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B0C4D8"/>
                </a:solidFill>
                <a:latin typeface="Segoe UI"/>
              </a:rPr>
              <a:t>外部連携・マイクロサービス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857750" y="2266950"/>
            <a:ext cx="4000500" cy="95250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C8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91300" y="2392680"/>
            <a:ext cx="533400" cy="37337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>
                <a:solidFill>
                  <a:srgbClr val="1B2A4A"/>
                </a:solidFill>
                <a:latin typeface="Segoe UI"/>
              </a:rPr>
              <a:t>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92916" y="2772727"/>
            <a:ext cx="1330166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E2328"/>
                </a:solidFill>
                <a:latin typeface="Segoe UI"/>
              </a:rPr>
              <a:t>モバイルバックエンド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56099" y="2987516"/>
            <a:ext cx="2403800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4A5568"/>
                </a:solidFill>
                <a:latin typeface="Segoe UI"/>
              </a:rPr>
              <a:t>iOS / Android アプリのバックエンド API 基盤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857750" y="3381375"/>
            <a:ext cx="4000500" cy="1000125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8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16907" y="3495198"/>
            <a:ext cx="1482185" cy="173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1E2328"/>
                </a:solidFill>
                <a:latin typeface="Segoe UI"/>
              </a:rPr>
              <a:t>サービスモデルの位置づけ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48250" y="3686175"/>
            <a:ext cx="1047750" cy="571500"/>
          </a:xfrm>
          <a:prstGeom prst="roundRect">
            <a:avLst>
              <a:gd name="adj" fmla="val 6666"/>
            </a:avLst>
          </a:prstGeom>
          <a:solidFill>
            <a:srgbClr val="EEF1F5"/>
          </a:solidFill>
          <a:ln w="12700">
            <a:solidFill>
              <a:srgbClr val="C8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40108" y="3836670"/>
            <a:ext cx="264033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4A5568"/>
                </a:solidFill>
                <a:latin typeface="Segoe UI"/>
              </a:rPr>
              <a:t>IaaS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99590" y="4033837"/>
            <a:ext cx="545068" cy="1333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>
                <a:solidFill>
                  <a:srgbClr val="8B939E"/>
                </a:solidFill>
                <a:latin typeface="Segoe UI"/>
              </a:rPr>
              <a:t>VM 管理あり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38875" y="3686175"/>
            <a:ext cx="1047750" cy="571500"/>
          </a:xfrm>
          <a:prstGeom prst="roundRect">
            <a:avLst>
              <a:gd name="adj" fmla="val 6666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48698" y="3836670"/>
            <a:ext cx="828103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D4FF"/>
                </a:solidFill>
                <a:latin typeface="Segoe UI"/>
              </a:rPr>
              <a:t>PaaS ← 今ここ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82702" y="4033837"/>
            <a:ext cx="760095" cy="1333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>
                <a:solidFill>
                  <a:srgbClr val="B0C4D8"/>
                </a:solidFill>
                <a:latin typeface="Segoe UI"/>
              </a:rPr>
              <a:t>インフラ管理不要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429500" y="3686175"/>
            <a:ext cx="1238250" cy="571500"/>
          </a:xfrm>
          <a:prstGeom prst="roundRect">
            <a:avLst>
              <a:gd name="adj" fmla="val 6666"/>
            </a:avLst>
          </a:prstGeom>
          <a:solidFill>
            <a:srgbClr val="EEF1F5"/>
          </a:solidFill>
          <a:ln w="12700">
            <a:solidFill>
              <a:srgbClr val="C8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16608" y="3836670"/>
            <a:ext cx="264033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4A5568"/>
                </a:solidFill>
                <a:latin typeface="Segoe UI"/>
              </a:rPr>
              <a:t>SaaS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68577" y="4033837"/>
            <a:ext cx="760095" cy="1333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>
                <a:solidFill>
                  <a:srgbClr val="8B939E"/>
                </a:solidFill>
                <a:latin typeface="Segoe UI"/>
              </a:rPr>
              <a:t>アプリも管理なし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81000" y="4948237"/>
            <a:ext cx="2085260" cy="1333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>
                <a:solidFill>
                  <a:srgbClr val="00D4FF"/>
                </a:solidFill>
                <a:latin typeface="Segoe UI"/>
                <a:hlinkClick r:id="rId2"/>
              </a:rPr>
              <a:t>📖 MS Learn — Azure App Service 概要 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5F7FA"/>
              </a:gs>
              <a:gs pos="100000">
                <a:srgbClr val="EEF1F5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gradFill rotWithShape="1">
            <a:gsLst>
              <a:gs pos="0">
                <a:srgbClr val="0D1B2A"/>
              </a:gs>
              <a:gs pos="100000">
                <a:srgbClr val="1A3A4A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237172"/>
            <a:ext cx="988123" cy="3467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FFFFFF"/>
                </a:solidFill>
                <a:latin typeface="Segoe UI"/>
              </a:rPr>
              <a:t>主な機能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14955" y="342423"/>
            <a:ext cx="357544" cy="173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75">
                <a:solidFill>
                  <a:srgbClr val="8B939E"/>
                </a:solidFill>
                <a:latin typeface="Segoe UI"/>
              </a:rPr>
              <a:t>2 /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1000" y="876300"/>
            <a:ext cx="2667000" cy="1238250"/>
          </a:xfrm>
          <a:prstGeom prst="roundRect">
            <a:avLst>
              <a:gd name="adj" fmla="val 6153"/>
            </a:avLst>
          </a:prstGeom>
          <a:gradFill rotWithShape="1">
            <a:gsLst>
              <a:gs pos="0">
                <a:srgbClr val="1B2A4A"/>
              </a:gs>
              <a:gs pos="100000">
                <a:srgbClr val="1A3A4A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57300" y="963930"/>
            <a:ext cx="533400" cy="37337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>
                <a:solidFill>
                  <a:srgbClr val="FFFFFF"/>
                </a:solidFill>
                <a:latin typeface="Segoe UI"/>
              </a:rPr>
              <a:t>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1933" y="1334452"/>
            <a:ext cx="1064133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自動スケーリング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4665" y="1549241"/>
            <a:ext cx="1358669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B0C4D8"/>
                </a:solidFill>
                <a:latin typeface="Segoe UI"/>
              </a:rPr>
              <a:t>負荷に応じて自動でスケール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3409" y="1701641"/>
            <a:ext cx="1441180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B0C4D8"/>
                </a:solidFill>
                <a:latin typeface="Segoe UI"/>
              </a:rPr>
              <a:t>アップ／アウト。SLA 99.95%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899" y="1892141"/>
            <a:ext cx="1606200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00D4FF"/>
                </a:solidFill>
                <a:latin typeface="Segoe UI"/>
              </a:rPr>
              <a:t>▲ スケールイン・スケールアウト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38500" y="876300"/>
            <a:ext cx="2667000" cy="1238250"/>
          </a:xfrm>
          <a:prstGeom prst="roundRect">
            <a:avLst>
              <a:gd name="adj" fmla="val 6153"/>
            </a:avLst>
          </a:prstGeom>
          <a:gradFill rotWithShape="1">
            <a:gsLst>
              <a:gs pos="0">
                <a:srgbClr val="1B2A4A"/>
              </a:gs>
              <a:gs pos="100000">
                <a:srgbClr val="1A3A4A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05300" y="963930"/>
            <a:ext cx="533400" cy="37337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>
                <a:solidFill>
                  <a:srgbClr val="FFFFFF"/>
                </a:solidFill>
                <a:latin typeface="Segoe UI"/>
              </a:rPr>
              <a:t>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7954" y="1334452"/>
            <a:ext cx="728091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CI/CD 連携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97390" y="1549241"/>
            <a:ext cx="1749218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B0C4D8"/>
                </a:solidFill>
                <a:latin typeface="Segoe UI"/>
              </a:rPr>
              <a:t>GitHub / Azure DevOps と連携し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44921" y="1701641"/>
            <a:ext cx="1254156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B0C4D8"/>
                </a:solidFill>
                <a:latin typeface="Segoe UI"/>
              </a:rPr>
              <a:t>コード変更を自動デプロイ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57898" y="1892141"/>
            <a:ext cx="1628203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00D4FF"/>
                </a:solidFill>
                <a:latin typeface="Segoe UI"/>
              </a:rPr>
              <a:t>▲ ZIP・FTP・CLIデプロイも対応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6000" y="876300"/>
            <a:ext cx="2667000" cy="1238250"/>
          </a:xfrm>
          <a:prstGeom prst="roundRect">
            <a:avLst>
              <a:gd name="adj" fmla="val 6153"/>
            </a:avLst>
          </a:prstGeom>
          <a:gradFill rotWithShape="1">
            <a:gsLst>
              <a:gs pos="0">
                <a:srgbClr val="1A3A4A"/>
              </a:gs>
              <a:gs pos="100000">
                <a:srgbClr val="2A7A8C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62800" y="963930"/>
            <a:ext cx="533400" cy="37337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>
                <a:solidFill>
                  <a:srgbClr val="FFFFFF"/>
                </a:solidFill>
                <a:latin typeface="Segoe UI"/>
              </a:rPr>
              <a:t>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96958" y="1334452"/>
            <a:ext cx="665083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認証・認可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0391" y="1549241"/>
            <a:ext cx="1738217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B0C4D8"/>
                </a:solidFill>
                <a:latin typeface="Segoe UI"/>
              </a:rPr>
              <a:t>Azure AD / Google / GitHub 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03409" y="1701641"/>
            <a:ext cx="1452181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B0C4D8"/>
                </a:solidFill>
                <a:latin typeface="Segoe UI"/>
              </a:rPr>
              <a:t>の外部 IdP との組み込み統合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8656" y="1892141"/>
            <a:ext cx="1501687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00D4FF"/>
                </a:solidFill>
                <a:latin typeface="Segoe UI"/>
              </a:rPr>
              <a:t>▲ コード変更なしで認証を追加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1000" y="2286000"/>
            <a:ext cx="2667000" cy="123825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12700">
            <a:solidFill>
              <a:srgbClr val="C8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57300" y="2392680"/>
            <a:ext cx="533400" cy="37337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>
                <a:solidFill>
                  <a:srgbClr val="1B2A4A"/>
                </a:solidFill>
                <a:latin typeface="Segoe UI"/>
              </a:rPr>
              <a:t>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910" y="2744152"/>
            <a:ext cx="1428178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E2328"/>
                </a:solidFill>
                <a:latin typeface="Segoe UI"/>
              </a:rPr>
              <a:t>カスタムドメイン・SSL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2408" y="2958941"/>
            <a:ext cx="1463182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4A5568"/>
                </a:solidFill>
                <a:latin typeface="Segoe UI"/>
              </a:rPr>
              <a:t>独自ドメイン設定とマネージド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0419" y="3111341"/>
            <a:ext cx="1287160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4A5568"/>
                </a:solidFill>
                <a:latin typeface="Segoe UI"/>
              </a:rPr>
              <a:t>SSL 証明書（無料）を提供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2916" y="3301841"/>
            <a:ext cx="1342167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2A7A8C"/>
                </a:solidFill>
                <a:latin typeface="Segoe UI"/>
              </a:rPr>
              <a:t>▲ HTTPS を標準でサポート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38500" y="2286000"/>
            <a:ext cx="2667000" cy="123825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12700">
            <a:solidFill>
              <a:srgbClr val="C8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05300" y="2392680"/>
            <a:ext cx="533400" cy="37337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>
                <a:solidFill>
                  <a:srgbClr val="1B2A4A"/>
                </a:solidFill>
                <a:latin typeface="Segoe UI"/>
              </a:rPr>
              <a:t>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39458" y="2744152"/>
            <a:ext cx="665083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E2328"/>
                </a:solidFill>
                <a:latin typeface="Segoe UI"/>
              </a:rPr>
              <a:t>監視・診断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79901" y="2958941"/>
            <a:ext cx="1584197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4A5568"/>
                </a:solidFill>
                <a:latin typeface="Segoe UI"/>
              </a:rPr>
              <a:t>Application Insights による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08" y="3111341"/>
            <a:ext cx="1463182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4A5568"/>
                </a:solidFill>
                <a:latin typeface="Segoe UI"/>
              </a:rPr>
              <a:t>パフォーマンス監視とログ分析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68899" y="3301841"/>
            <a:ext cx="1606200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2A7A8C"/>
                </a:solidFill>
                <a:latin typeface="Segoe UI"/>
              </a:rPr>
              <a:t>▲ 診断ツール・ライブストリーム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96000" y="2286000"/>
            <a:ext cx="2667000" cy="123825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12700">
            <a:solidFill>
              <a:srgbClr val="C8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62800" y="2392680"/>
            <a:ext cx="533400" cy="37337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>
                <a:solidFill>
                  <a:srgbClr val="1B2A4A"/>
                </a:solidFill>
                <a:latin typeface="Segoe UI"/>
              </a:rPr>
              <a:t>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97433" y="2744152"/>
            <a:ext cx="1064133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E2328"/>
                </a:solidFill>
                <a:latin typeface="Segoe UI"/>
              </a:rPr>
              <a:t>デプロイスロット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50165" y="2958941"/>
            <a:ext cx="1358669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4A5568"/>
                </a:solidFill>
                <a:latin typeface="Segoe UI"/>
              </a:rPr>
              <a:t>本番・ステージングを分離し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50165" y="3111341"/>
            <a:ext cx="1358669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4A5568"/>
                </a:solidFill>
                <a:latin typeface="Segoe UI"/>
              </a:rPr>
              <a:t>スワップでゼロダウンタイム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83169" y="3301841"/>
            <a:ext cx="1292661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2A7A8C"/>
                </a:solidFill>
                <a:latin typeface="Segoe UI"/>
              </a:rPr>
              <a:t>▲ ロールバックも即時対応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81000" y="3695700"/>
            <a:ext cx="8382000" cy="457200"/>
          </a:xfrm>
          <a:prstGeom prst="roundRect">
            <a:avLst>
              <a:gd name="adj" fmla="val 16666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447234" y="3868102"/>
            <a:ext cx="4249531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これらすべてがフルマネージドで利用可能 — インフラ管理の手間ゼロ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1000" y="4948237"/>
            <a:ext cx="2085260" cy="1333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>
                <a:solidFill>
                  <a:srgbClr val="00D4FF"/>
                </a:solidFill>
                <a:latin typeface="Segoe UI"/>
                <a:hlinkClick r:id="rId2"/>
              </a:rPr>
              <a:t>📖 MS Learn — Azure App Service 概要 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5F7FA"/>
              </a:gs>
              <a:gs pos="100000">
                <a:srgbClr val="EEF1F5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gradFill rotWithShape="1">
            <a:gsLst>
              <a:gs pos="0">
                <a:srgbClr val="0D1B2A"/>
              </a:gs>
              <a:gs pos="100000">
                <a:srgbClr val="1A3A4A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237172"/>
            <a:ext cx="3458432" cy="3467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FFFFFF"/>
                </a:solidFill>
                <a:latin typeface="Segoe UI"/>
              </a:rPr>
              <a:t>サポート言語・ランタイム環境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14955" y="342423"/>
            <a:ext cx="357544" cy="173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75">
                <a:solidFill>
                  <a:srgbClr val="8B939E"/>
                </a:solidFill>
                <a:latin typeface="Segoe UI"/>
              </a:rPr>
              <a:t>3 /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839152"/>
            <a:ext cx="497062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E2328"/>
                </a:solidFill>
                <a:latin typeface="Segoe UI"/>
              </a:rPr>
              <a:t>対応 OS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81000" y="1009650"/>
            <a:ext cx="8382000" cy="0"/>
          </a:xfrm>
          <a:prstGeom prst="line">
            <a:avLst/>
          </a:prstGeom>
          <a:ln w="12700">
            <a:solidFill>
              <a:srgbClr val="C8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81000" y="1085850"/>
            <a:ext cx="1905000" cy="476250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1B2A4A"/>
              </a:gs>
              <a:gs pos="100000">
                <a:srgbClr val="1A3A4A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8953" y="1267777"/>
            <a:ext cx="749093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🪟 Windows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76500" y="1085850"/>
            <a:ext cx="1905000" cy="476250"/>
          </a:xfrm>
          <a:prstGeom prst="roundRect">
            <a:avLst>
              <a:gd name="adj" fmla="val 16000"/>
            </a:avLst>
          </a:prstGeom>
          <a:solidFill>
            <a:srgbClr val="1A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31462" y="1267777"/>
            <a:ext cx="595074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🐧 Linux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085850"/>
            <a:ext cx="1905000" cy="476250"/>
          </a:xfrm>
          <a:prstGeom prst="roundRect">
            <a:avLst>
              <a:gd name="adj" fmla="val 16000"/>
            </a:avLst>
          </a:prstGeom>
          <a:solidFill>
            <a:srgbClr val="2A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83919" y="1267777"/>
            <a:ext cx="1281160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🐳 Docker コンテナ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7500" y="1283970"/>
            <a:ext cx="1710213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8B939E"/>
                </a:solidFill>
                <a:latin typeface="Segoe UI"/>
              </a:rPr>
              <a:t>カスタムコンテナイメージも対応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000" y="1696402"/>
            <a:ext cx="1330166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E2328"/>
                </a:solidFill>
                <a:latin typeface="Segoe UI"/>
              </a:rPr>
              <a:t>対応言語・ランタイム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1000" y="1866900"/>
            <a:ext cx="8382000" cy="0"/>
          </a:xfrm>
          <a:prstGeom prst="line">
            <a:avLst/>
          </a:prstGeom>
          <a:ln w="12700">
            <a:solidFill>
              <a:srgbClr val="C8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81000" y="1943100"/>
            <a:ext cx="152400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8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81000" y="1943100"/>
            <a:ext cx="1524000" cy="5715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8967" y="2167890"/>
            <a:ext cx="528066" cy="3200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B2A4A"/>
                </a:solidFill>
                <a:latin typeface="Segoe UI"/>
              </a:rPr>
              <a:t>.NET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71500" y="2476500"/>
            <a:ext cx="1143000" cy="0"/>
          </a:xfrm>
          <a:prstGeom prst="line">
            <a:avLst/>
          </a:prstGeom>
          <a:ln w="12700">
            <a:solidFill>
              <a:srgbClr val="EEF1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19447" y="2558891"/>
            <a:ext cx="847105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4A5568"/>
                </a:solidFill>
                <a:latin typeface="Segoe UI"/>
              </a:rPr>
              <a:t>.NET 8 / 7 /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9447" y="2730341"/>
            <a:ext cx="847105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4A5568"/>
                </a:solidFill>
                <a:latin typeface="Segoe UI"/>
              </a:rPr>
              <a:t>.NET Framework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9954" y="2901791"/>
            <a:ext cx="726090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4A5568"/>
                </a:solidFill>
                <a:latin typeface="Segoe UI"/>
              </a:rPr>
              <a:t>ASP.NET 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0462" y="3081337"/>
            <a:ext cx="605075" cy="1333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>
                <a:solidFill>
                  <a:srgbClr val="00D4FF"/>
                </a:solidFill>
                <a:latin typeface="Segoe UI"/>
              </a:rPr>
              <a:t>Win / Linux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057400" y="1943100"/>
            <a:ext cx="152400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8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057400" y="1943100"/>
            <a:ext cx="1524000" cy="57150"/>
          </a:xfrm>
          <a:prstGeom prst="roundRect">
            <a:avLst>
              <a:gd name="adj" fmla="val 50000"/>
            </a:avLst>
          </a:prstGeom>
          <a:solidFill>
            <a:srgbClr val="1A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75344" y="2167890"/>
            <a:ext cx="888111" cy="3200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3A4A"/>
                </a:solidFill>
                <a:latin typeface="Segoe UI"/>
              </a:rPr>
              <a:t>☕ Java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247900" y="2476500"/>
            <a:ext cx="1143000" cy="0"/>
          </a:xfrm>
          <a:prstGeom prst="line">
            <a:avLst/>
          </a:prstGeom>
          <a:ln w="12700">
            <a:solidFill>
              <a:srgbClr val="EEF1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184070" y="2558891"/>
            <a:ext cx="1270658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4A5568"/>
                </a:solidFill>
                <a:latin typeface="Segoe UI"/>
              </a:rPr>
              <a:t>Java 21 / 17 / 11 / 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86608" y="2730341"/>
            <a:ext cx="665583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4A5568"/>
                </a:solidFill>
                <a:latin typeface="Segoe UI"/>
              </a:rPr>
              <a:t>Spring Boot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95847" y="2901791"/>
            <a:ext cx="847105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4A5568"/>
                </a:solidFill>
                <a:latin typeface="Segoe UI"/>
              </a:rPr>
              <a:t>Tomcat / JBoss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16862" y="3081337"/>
            <a:ext cx="605075" cy="1333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>
                <a:solidFill>
                  <a:srgbClr val="00D4FF"/>
                </a:solidFill>
                <a:latin typeface="Segoe UI"/>
              </a:rPr>
              <a:t>Win / Linux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733800" y="1943100"/>
            <a:ext cx="152400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8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733800" y="1943100"/>
            <a:ext cx="1524000" cy="57150"/>
          </a:xfrm>
          <a:prstGeom prst="roundRect">
            <a:avLst>
              <a:gd name="adj" fmla="val 50000"/>
            </a:avLst>
          </a:prstGeom>
          <a:solidFill>
            <a:srgbClr val="2A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0751" y="2200275"/>
            <a:ext cx="770096" cy="2667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2A7A8C"/>
                </a:solidFill>
                <a:latin typeface="Segoe UI"/>
              </a:rPr>
              <a:t>Node.js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924300" y="2476500"/>
            <a:ext cx="1143000" cy="0"/>
          </a:xfrm>
          <a:prstGeom prst="line">
            <a:avLst/>
          </a:prstGeom>
          <a:ln w="12700">
            <a:solidFill>
              <a:srgbClr val="EEF1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981485" y="2558891"/>
            <a:ext cx="1028628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4A5568"/>
                </a:solidFill>
                <a:latin typeface="Segoe UI"/>
              </a:rPr>
              <a:t>Node 20 / 18 / 16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81485" y="2730341"/>
            <a:ext cx="1028628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4A5568"/>
                </a:solidFill>
                <a:latin typeface="Segoe UI"/>
              </a:rPr>
              <a:t>Express / Next.js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79510" y="2901791"/>
            <a:ext cx="632579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4A5568"/>
                </a:solidFill>
                <a:latin typeface="Segoe UI"/>
              </a:rPr>
              <a:t>NestJS など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93262" y="3081337"/>
            <a:ext cx="605075" cy="1333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>
                <a:solidFill>
                  <a:srgbClr val="00D4FF"/>
                </a:solidFill>
                <a:latin typeface="Segoe UI"/>
              </a:rPr>
              <a:t>Win / Linux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10200" y="1943100"/>
            <a:ext cx="152400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8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410200" y="1943100"/>
            <a:ext cx="1524000" cy="5715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596128" y="2167890"/>
            <a:ext cx="1152144" cy="3200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B2A4A"/>
                </a:solidFill>
                <a:latin typeface="Segoe UI"/>
              </a:rPr>
              <a:t>🐍 Python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600700" y="2476500"/>
            <a:ext cx="1143000" cy="0"/>
          </a:xfrm>
          <a:prstGeom prst="line">
            <a:avLst/>
          </a:prstGeom>
          <a:ln w="12700">
            <a:solidFill>
              <a:srgbClr val="EEF1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627631" y="2558891"/>
            <a:ext cx="1089136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4A5568"/>
                </a:solidFill>
                <a:latin typeface="Segoe UI"/>
              </a:rPr>
              <a:t>Python 3.12 / 3.11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48647" y="2730341"/>
            <a:ext cx="847105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4A5568"/>
                </a:solidFill>
                <a:latin typeface="Segoe UI"/>
              </a:rPr>
              <a:t>Django / Flask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60423" y="2901791"/>
            <a:ext cx="423552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4A5568"/>
                </a:solidFill>
                <a:latin typeface="Segoe UI"/>
              </a:rPr>
              <a:t>FastAPI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12167" y="3081337"/>
            <a:ext cx="520065" cy="1333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>
                <a:solidFill>
                  <a:srgbClr val="00D4FF"/>
                </a:solidFill>
                <a:latin typeface="Segoe UI"/>
              </a:rPr>
              <a:t>Linux のみ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086600" y="1943100"/>
            <a:ext cx="171450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8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086600" y="1943100"/>
            <a:ext cx="1714500" cy="57150"/>
          </a:xfrm>
          <a:prstGeom prst="roundRect">
            <a:avLst>
              <a:gd name="adj" fmla="val 50000"/>
            </a:avLst>
          </a:prstGeom>
          <a:solidFill>
            <a:srgbClr val="1A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38774" y="2184082"/>
            <a:ext cx="1210151" cy="2933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50">
                <a:solidFill>
                  <a:srgbClr val="1A3A4A"/>
                </a:solidFill>
                <a:latin typeface="Segoe UI"/>
              </a:rPr>
              <a:t>PHP / Ruby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7277100" y="2476500"/>
            <a:ext cx="1333500" cy="0"/>
          </a:xfrm>
          <a:prstGeom prst="line">
            <a:avLst/>
          </a:prstGeom>
          <a:ln w="12700">
            <a:solidFill>
              <a:srgbClr val="EEF1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7369028" y="2558891"/>
            <a:ext cx="1149643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4A5568"/>
                </a:solidFill>
                <a:latin typeface="Segoe UI"/>
              </a:rPr>
              <a:t>PHP 8.3 / 8.2 / 8.1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69028" y="2730341"/>
            <a:ext cx="1149643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4A5568"/>
                </a:solidFill>
                <a:latin typeface="Segoe UI"/>
              </a:rPr>
              <a:t>Laravel / WordPress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50550" y="2901791"/>
            <a:ext cx="786598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4A5568"/>
                </a:solidFill>
                <a:latin typeface="Segoe UI"/>
              </a:rPr>
              <a:t>Ruby on Rails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41312" y="3081337"/>
            <a:ext cx="605075" cy="1333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>
                <a:solidFill>
                  <a:srgbClr val="00D4FF"/>
                </a:solidFill>
                <a:latin typeface="Segoe UI"/>
              </a:rPr>
              <a:t>Win / Linux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81000" y="3409950"/>
            <a:ext cx="8382000" cy="66675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12700">
            <a:solidFill>
              <a:srgbClr val="C8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381000" y="3409950"/>
            <a:ext cx="57150" cy="66675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9125" y="3561873"/>
            <a:ext cx="2223277" cy="173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1E2328"/>
                </a:solidFill>
                <a:latin typeface="Segoe UI"/>
              </a:rPr>
              <a:t>マルチ言語・マルチランタイムの柔軟性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9125" y="3789045"/>
            <a:ext cx="7596949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4A5568"/>
                </a:solidFill>
                <a:latin typeface="Segoe UI"/>
              </a:rPr>
              <a:t>既存コードをそのまま移行可能。カスタム Docker コンテナで対応言語をさらに拡張。ランタイムバージョンはポータルから簡単に変更できます。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81000" y="4948237"/>
            <a:ext cx="2235279" cy="1333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>
                <a:solidFill>
                  <a:srgbClr val="00D4FF"/>
                </a:solidFill>
                <a:latin typeface="Segoe UI"/>
                <a:hlinkClick r:id="rId2"/>
              </a:rPr>
              <a:t>📖 MS Learn — 組み込み言語とフレームワーク 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5F7FA"/>
              </a:gs>
              <a:gs pos="100000">
                <a:srgbClr val="EEF1F5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gradFill rotWithShape="1">
            <a:gsLst>
              <a:gs pos="0">
                <a:srgbClr val="0D1B2A"/>
              </a:gs>
              <a:gs pos="100000">
                <a:srgbClr val="1A3A4A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237172"/>
            <a:ext cx="4004500" cy="3467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FFFFFF"/>
                </a:solidFill>
                <a:latin typeface="Segoe UI"/>
              </a:rPr>
              <a:t>App Service Plan — プラン比較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14955" y="342423"/>
            <a:ext cx="357544" cy="173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75">
                <a:solidFill>
                  <a:srgbClr val="8B939E"/>
                </a:solidFill>
                <a:latin typeface="Segoe UI"/>
              </a:rPr>
              <a:t>4 /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780573"/>
            <a:ext cx="7501937" cy="173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>
                <a:solidFill>
                  <a:srgbClr val="4A5568"/>
                </a:solidFill>
                <a:latin typeface="Segoe UI"/>
              </a:rPr>
              <a:t>App Service Plan は、アプリを実行するコンピューティングリソース（CPU・メモリ・スケール上限・OS）を定義するプランです。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1000" y="1009650"/>
            <a:ext cx="8382000" cy="361950"/>
          </a:xfrm>
          <a:prstGeom prst="roundRect">
            <a:avLst>
              <a:gd name="adj" fmla="val 10526"/>
            </a:avLst>
          </a:prstGeom>
          <a:gradFill rotWithShape="1">
            <a:gsLst>
              <a:gs pos="0">
                <a:srgbClr val="1B2A4A"/>
              </a:gs>
              <a:gs pos="100000">
                <a:srgbClr val="1A3A4A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2500" y="1141095"/>
            <a:ext cx="342042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プラン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0750" y="1141095"/>
            <a:ext cx="228600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用途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95750" y="1141095"/>
            <a:ext cx="456056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主な特徴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0" y="1141095"/>
            <a:ext cx="684085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スケール上限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5250" y="1141095"/>
            <a:ext cx="1308163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SLA / カスタムドメイン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1000" y="1371600"/>
            <a:ext cx="8382000" cy="495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381000" y="1866900"/>
            <a:ext cx="8382000" cy="0"/>
          </a:xfrm>
          <a:prstGeom prst="line">
            <a:avLst/>
          </a:prstGeom>
          <a:ln w="12700">
            <a:solidFill>
              <a:srgbClr val="C8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81000" y="1371600"/>
            <a:ext cx="57150" cy="495300"/>
          </a:xfrm>
          <a:prstGeom prst="rect">
            <a:avLst/>
          </a:prstGeom>
          <a:solidFill>
            <a:srgbClr val="8B9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1500" y="1475898"/>
            <a:ext cx="929616" cy="173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4A5568"/>
                </a:solidFill>
                <a:latin typeface="Segoe UI"/>
              </a:rPr>
              <a:t>Free / Shared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1663541"/>
            <a:ext cx="423552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8B939E"/>
                </a:solidFill>
                <a:latin typeface="Segoe UI"/>
              </a:rPr>
              <a:t>F1 / D1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0750" y="1522095"/>
            <a:ext cx="912113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4A5568"/>
                </a:solidFill>
                <a:latin typeface="Segoe UI"/>
              </a:rPr>
              <a:t>開発・検証・学習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95750" y="1492091"/>
            <a:ext cx="1567695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4A5568"/>
                </a:solidFill>
                <a:latin typeface="Segoe UI"/>
              </a:rPr>
              <a:t>共有インフラ、リソース制限あり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95750" y="1663541"/>
            <a:ext cx="731591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8B939E"/>
                </a:solidFill>
                <a:latin typeface="Segoe UI"/>
              </a:rPr>
              <a:t>商用利用非推奨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7000" y="1522095"/>
            <a:ext cx="1272159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4A5568"/>
                </a:solidFill>
                <a:latin typeface="Segoe UI"/>
              </a:rPr>
              <a:t>1 インスタンス（固定）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15250" y="1492091"/>
            <a:ext cx="451056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8B939E"/>
                </a:solidFill>
                <a:latin typeface="Segoe UI"/>
              </a:rPr>
              <a:t>SLA なし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15250" y="1663541"/>
            <a:ext cx="1347668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8B939E"/>
                </a:solidFill>
                <a:latin typeface="Segoe UI"/>
              </a:rPr>
              <a:t>カスタムドメイン不可 (F1)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1000" y="1866900"/>
            <a:ext cx="8382000" cy="4953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381000" y="2362200"/>
            <a:ext cx="8382000" cy="0"/>
          </a:xfrm>
          <a:prstGeom prst="line">
            <a:avLst/>
          </a:prstGeom>
          <a:ln w="12700">
            <a:solidFill>
              <a:srgbClr val="C8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381000" y="1866900"/>
            <a:ext cx="57150" cy="495300"/>
          </a:xfrm>
          <a:prstGeom prst="rect">
            <a:avLst/>
          </a:prstGeom>
          <a:solidFill>
            <a:srgbClr val="2A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1500" y="1971198"/>
            <a:ext cx="357544" cy="173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1E2328"/>
                </a:solidFill>
                <a:latin typeface="Segoe UI"/>
              </a:rPr>
              <a:t>Basic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1500" y="2158841"/>
            <a:ext cx="726090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8B939E"/>
                </a:solidFill>
                <a:latin typeface="Segoe UI"/>
              </a:rPr>
              <a:t>B1 / B2 / B3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90750" y="2017395"/>
            <a:ext cx="1368171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4A5568"/>
                </a:solidFill>
                <a:latin typeface="Segoe UI"/>
              </a:rPr>
              <a:t>小規模な本番ワークロード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95750" y="1987391"/>
            <a:ext cx="1122140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4A5568"/>
                </a:solidFill>
                <a:latin typeface="Segoe UI"/>
              </a:rPr>
              <a:t>専用 VM、手動スケール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95750" y="2158841"/>
            <a:ext cx="1045130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8B939E"/>
                </a:solidFill>
                <a:latin typeface="Segoe UI"/>
              </a:rPr>
              <a:t>デプロイスロットなし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7000" y="2017395"/>
            <a:ext cx="1110138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4A5568"/>
                </a:solidFill>
                <a:latin typeface="Segoe UI"/>
              </a:rPr>
              <a:t>最大 3 インスタンス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15250" y="1987391"/>
            <a:ext cx="605075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4A5568"/>
                </a:solidFill>
                <a:latin typeface="Segoe UI"/>
              </a:rPr>
              <a:t>SLA 99.95%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15250" y="2158841"/>
            <a:ext cx="957119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4A5568"/>
                </a:solidFill>
                <a:latin typeface="Segoe UI"/>
              </a:rPr>
              <a:t>カスタムドメイン 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1000" y="2362200"/>
            <a:ext cx="8382000" cy="495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381000" y="2857500"/>
            <a:ext cx="8382000" cy="0"/>
          </a:xfrm>
          <a:prstGeom prst="line">
            <a:avLst/>
          </a:prstGeom>
          <a:ln w="12700">
            <a:solidFill>
              <a:srgbClr val="C8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381000" y="2362200"/>
            <a:ext cx="57150" cy="4953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1500" y="2466498"/>
            <a:ext cx="767095" cy="173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1E2328"/>
                </a:solidFill>
                <a:latin typeface="Segoe UI"/>
              </a:rPr>
              <a:t>Standard 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1500" y="2654141"/>
            <a:ext cx="726090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00D4FF"/>
                </a:solidFill>
                <a:latin typeface="Segoe UI"/>
              </a:rPr>
              <a:t>S1 / S2 / S3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90750" y="2512695"/>
            <a:ext cx="1596199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4A5568"/>
                </a:solidFill>
                <a:latin typeface="Segoe UI"/>
              </a:rPr>
              <a:t>本番・スケール・スロット利用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95750" y="2482691"/>
            <a:ext cx="1853731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4A5568"/>
                </a:solidFill>
                <a:latin typeface="Segoe UI"/>
              </a:rPr>
              <a:t>自動スケール、デプロイスロット 5 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95750" y="2654141"/>
            <a:ext cx="1177147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4A5568"/>
                </a:solidFill>
                <a:latin typeface="Segoe UI"/>
              </a:rPr>
              <a:t>Traffic Manager 連携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77000" y="2512695"/>
            <a:ext cx="1176147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4A5568"/>
                </a:solidFill>
                <a:latin typeface="Segoe UI"/>
              </a:rPr>
              <a:t>最大 10 インスタンス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15250" y="2482691"/>
            <a:ext cx="605075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4A5568"/>
                </a:solidFill>
                <a:latin typeface="Segoe UI"/>
              </a:rPr>
              <a:t>SLA 99.95%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15250" y="2654141"/>
            <a:ext cx="1320165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4A5568"/>
                </a:solidFill>
                <a:latin typeface="Segoe UI"/>
              </a:rPr>
              <a:t>SSL / カスタムドメイン 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1000" y="2857500"/>
            <a:ext cx="8382000" cy="4953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381000" y="3352800"/>
            <a:ext cx="8382000" cy="0"/>
          </a:xfrm>
          <a:prstGeom prst="line">
            <a:avLst/>
          </a:prstGeom>
          <a:ln w="12700">
            <a:solidFill>
              <a:srgbClr val="C8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381000" y="2857500"/>
            <a:ext cx="57150" cy="4953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71500" y="2961798"/>
            <a:ext cx="500562" cy="173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1E2328"/>
                </a:solidFill>
                <a:latin typeface="Segoe UI"/>
              </a:rPr>
              <a:t>Premium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1500" y="3149441"/>
            <a:ext cx="709588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8B939E"/>
                </a:solidFill>
                <a:latin typeface="Segoe UI"/>
              </a:rPr>
              <a:t>P1v3 ～ P3v3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90750" y="3007995"/>
            <a:ext cx="1596199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4A5568"/>
                </a:solidFill>
                <a:latin typeface="Segoe UI"/>
              </a:rPr>
              <a:t>高負荷・高パフォーマンス本番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95750" y="2977991"/>
            <a:ext cx="1809726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4A5568"/>
                </a:solidFill>
                <a:latin typeface="Segoe UI"/>
              </a:rPr>
              <a:t>ゾーン冗長、デプロイスロット 20 個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95750" y="3149441"/>
            <a:ext cx="1567695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4A5568"/>
                </a:solidFill>
                <a:latin typeface="Segoe UI"/>
              </a:rPr>
              <a:t>プライベートエンドポイント対応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77000" y="3007995"/>
            <a:ext cx="1176147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4A5568"/>
                </a:solidFill>
                <a:latin typeface="Segoe UI"/>
              </a:rPr>
              <a:t>最大 30 インスタンス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15250" y="2977991"/>
            <a:ext cx="605075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4A5568"/>
                </a:solidFill>
                <a:latin typeface="Segoe UI"/>
              </a:rPr>
              <a:t>SLA 99.95%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15250" y="3149441"/>
            <a:ext cx="434554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4A5568"/>
                </a:solidFill>
                <a:latin typeface="Segoe UI"/>
              </a:rPr>
              <a:t>全機能 ✓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81000" y="3352800"/>
            <a:ext cx="8382000" cy="495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81000" y="3352800"/>
            <a:ext cx="57150" cy="495300"/>
          </a:xfrm>
          <a:prstGeom prst="rect">
            <a:avLst/>
          </a:prstGeom>
          <a:solidFill>
            <a:srgbClr val="1A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71500" y="3457098"/>
            <a:ext cx="572071" cy="173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1E2328"/>
                </a:solidFill>
                <a:latin typeface="Segoe UI"/>
              </a:rPr>
              <a:t>Isolated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71500" y="3644741"/>
            <a:ext cx="709588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8B939E"/>
                </a:solidFill>
                <a:latin typeface="Segoe UI"/>
              </a:rPr>
              <a:t>I1v2 ～ I6v2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90750" y="3503295"/>
            <a:ext cx="1482185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4A5568"/>
                </a:solidFill>
                <a:latin typeface="Segoe UI"/>
              </a:rPr>
              <a:t>完全分離・エンタープライズ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095750" y="3473291"/>
            <a:ext cx="1947243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4A5568"/>
                </a:solidFill>
                <a:latin typeface="Segoe UI"/>
              </a:rPr>
              <a:t>専用 VNet、ASE (App Service Env.)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095750" y="3644741"/>
            <a:ext cx="1881235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4A5568"/>
                </a:solidFill>
                <a:latin typeface="Segoe UI"/>
              </a:rPr>
              <a:t>最高のセキュリティ・コンプライアンス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77000" y="3503295"/>
            <a:ext cx="1242155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4A5568"/>
                </a:solidFill>
                <a:latin typeface="Segoe UI"/>
              </a:rPr>
              <a:t>最大 100 インスタンス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715250" y="3473291"/>
            <a:ext cx="605075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4A5568"/>
                </a:solidFill>
                <a:latin typeface="Segoe UI"/>
              </a:rPr>
              <a:t>SLA 99.95%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15250" y="3644741"/>
            <a:ext cx="1166145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4A5568"/>
                </a:solidFill>
                <a:latin typeface="Segoe UI"/>
              </a:rPr>
              <a:t>完全分離ネットワーク ✓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81000" y="3959066"/>
            <a:ext cx="7376421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8B939E"/>
                </a:solidFill>
                <a:latin typeface="Segoe UI"/>
              </a:rPr>
              <a:t>⭐ Standard が一般的な本番用途で最初に選択すべきプラン。料金は選択するリージョン・SKU により異なります（Azure 料金計算ツールで見積もり）。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81000" y="4948237"/>
            <a:ext cx="2135266" cy="1333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>
                <a:solidFill>
                  <a:srgbClr val="00D4FF"/>
                </a:solidFill>
                <a:latin typeface="Segoe UI"/>
                <a:hlinkClick r:id="rId2"/>
              </a:rPr>
              <a:t>📖 MS Learn — App Service プランの概要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5F7FA"/>
              </a:gs>
              <a:gs pos="100000">
                <a:srgbClr val="EEF1F5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gradFill rotWithShape="1">
            <a:gsLst>
              <a:gs pos="0">
                <a:srgbClr val="0D1B2A"/>
              </a:gs>
              <a:gs pos="100000">
                <a:srgbClr val="1A3A4A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237172"/>
            <a:ext cx="5421677" cy="3467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FFFFFF"/>
                </a:solidFill>
                <a:latin typeface="Segoe UI"/>
              </a:rPr>
              <a:t>デプロイスロット — ゼロダウンタイムリリース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14955" y="342423"/>
            <a:ext cx="357544" cy="173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75">
                <a:solidFill>
                  <a:srgbClr val="8B939E"/>
                </a:solidFill>
                <a:latin typeface="Segoe UI"/>
              </a:rPr>
              <a:t>5 / 7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209675"/>
            <a:ext cx="533400" cy="53340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7469" y="1381125"/>
            <a:ext cx="490061" cy="2667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FFFFFF"/>
                </a:solidFill>
                <a:latin typeface="Segoe UI"/>
              </a:rPr>
              <a:t>👨‍💻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6704" y="1815941"/>
            <a:ext cx="731591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4A5568"/>
                </a:solidFill>
                <a:latin typeface="Segoe UI"/>
              </a:rPr>
              <a:t>コードプッシュ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38250" y="1476375"/>
            <a:ext cx="809625" cy="0"/>
          </a:xfrm>
          <a:prstGeom prst="line">
            <a:avLst/>
          </a:prstGeom>
          <a:ln w="25400">
            <a:solidFill>
              <a:srgbClr val="2A7A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reeform 9"/>
          <p:cNvSpPr/>
          <p:nvPr/>
        </p:nvSpPr>
        <p:spPr>
          <a:xfrm>
            <a:off x="2047875" y="1419225"/>
            <a:ext cx="123825" cy="114300"/>
          </a:xfrm>
          <a:custGeom>
            <a:avLst/>
            <a:gdLst/>
            <a:ahLst/>
            <a:cxnLst/>
            <a:rect l="l" t="t" r="r" b="b"/>
            <a:pathLst>
              <a:path w="123825" h="114300">
                <a:moveTo>
                  <a:pt x="0" y="0"/>
                </a:moveTo>
                <a:lnTo>
                  <a:pt x="123825" y="5715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2A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171700" y="1047750"/>
            <a:ext cx="1905000" cy="857250"/>
          </a:xfrm>
          <a:prstGeom prst="roundRect">
            <a:avLst>
              <a:gd name="adj" fmla="val 11111"/>
            </a:avLst>
          </a:prstGeom>
          <a:gradFill rotWithShape="1">
            <a:gsLst>
              <a:gs pos="0">
                <a:srgbClr val="1A3A4A"/>
              </a:gs>
              <a:gs pos="100000">
                <a:srgbClr val="2A7A8C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06622" y="1275873"/>
            <a:ext cx="1235154" cy="173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FFFFFF"/>
                </a:solidFill>
                <a:latin typeface="Segoe UI"/>
              </a:rPr>
              <a:t>ステージングスロット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9391" y="1463516"/>
            <a:ext cx="929616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B0C4D8"/>
                </a:solidFill>
                <a:latin typeface="Segoe UI"/>
              </a:rPr>
              <a:t>新バージョン v2.0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10660" y="1634966"/>
            <a:ext cx="627078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00D4FF"/>
                </a:solidFill>
                <a:latin typeface="Segoe UI"/>
              </a:rPr>
              <a:t>テスト・検証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1231582"/>
            <a:ext cx="419100" cy="2933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50">
                <a:solidFill>
                  <a:srgbClr val="00D4FF"/>
                </a:solidFill>
                <a:latin typeface="Segoe UI"/>
              </a:rPr>
              <a:t>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1504950"/>
            <a:ext cx="419100" cy="20955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2936" y="1576387"/>
            <a:ext cx="220027" cy="1333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00D4FF"/>
                </a:solidFill>
                <a:latin typeface="Segoe UI"/>
              </a:rPr>
              <a:t>SWAP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1047750"/>
            <a:ext cx="1905000" cy="857250"/>
          </a:xfrm>
          <a:prstGeom prst="roundRect">
            <a:avLst>
              <a:gd name="adj" fmla="val 11111"/>
            </a:avLst>
          </a:prstGeom>
          <a:gradFill rotWithShape="1">
            <a:gsLst>
              <a:gs pos="0">
                <a:srgbClr val="1B2A4A"/>
              </a:gs>
              <a:gs pos="100000">
                <a:srgbClr val="1A3A4A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11153" y="1275873"/>
            <a:ext cx="741092" cy="173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FFFFFF"/>
                </a:solidFill>
                <a:latin typeface="Segoe UI"/>
              </a:rPr>
              <a:t>本番スロット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64635" y="1463516"/>
            <a:ext cx="1034129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B0C4D8"/>
                </a:solidFill>
                <a:latin typeface="Segoe UI"/>
              </a:rPr>
              <a:t>現行バージョン v1.0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42420" y="1634966"/>
            <a:ext cx="478559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00D4FF"/>
                </a:solidFill>
                <a:latin typeface="Segoe UI"/>
              </a:rPr>
              <a:t>稼働中 🟢</a:t>
            </a:r>
          </a:p>
        </p:txBody>
      </p:sp>
      <p:sp>
        <p:nvSpPr>
          <p:cNvPr id="22" name="Oval 21"/>
          <p:cNvSpPr/>
          <p:nvPr/>
        </p:nvSpPr>
        <p:spPr>
          <a:xfrm>
            <a:off x="7543800" y="1209675"/>
            <a:ext cx="533400" cy="533400"/>
          </a:xfrm>
          <a:prstGeom prst="ellipse">
            <a:avLst/>
          </a:prstGeom>
          <a:solidFill>
            <a:srgbClr val="2A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0000" y="1381125"/>
            <a:ext cx="381000" cy="2667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FFFFFF"/>
                </a:solidFill>
                <a:latin typeface="Segoe UI"/>
              </a:rPr>
              <a:t>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4704" y="1815941"/>
            <a:ext cx="731591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4A5568"/>
                </a:solidFill>
                <a:latin typeface="Segoe UI"/>
              </a:rPr>
              <a:t>エンドユーザー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934200" y="1476375"/>
            <a:ext cx="619125" cy="0"/>
          </a:xfrm>
          <a:prstGeom prst="line">
            <a:avLst/>
          </a:prstGeom>
          <a:ln w="25400">
            <a:solidFill>
              <a:srgbClr val="2A7A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Freeform 25"/>
          <p:cNvSpPr/>
          <p:nvPr/>
        </p:nvSpPr>
        <p:spPr>
          <a:xfrm>
            <a:off x="7553325" y="1419225"/>
            <a:ext cx="123825" cy="114300"/>
          </a:xfrm>
          <a:custGeom>
            <a:avLst/>
            <a:gdLst/>
            <a:ahLst/>
            <a:cxnLst/>
            <a:rect l="l" t="t" r="r" b="b"/>
            <a:pathLst>
              <a:path w="123825" h="114300">
                <a:moveTo>
                  <a:pt x="0" y="0"/>
                </a:moveTo>
                <a:lnTo>
                  <a:pt x="123825" y="5715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2A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67914" y="2141220"/>
            <a:ext cx="570071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8B939E"/>
                </a:solidFill>
                <a:latin typeface="Segoe UI"/>
              </a:rPr>
              <a:t>スワップ後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171700" y="2362200"/>
            <a:ext cx="4762500" cy="0"/>
          </a:xfrm>
          <a:prstGeom prst="line">
            <a:avLst/>
          </a:prstGeom>
          <a:ln w="12700">
            <a:solidFill>
              <a:srgbClr val="00D4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171700" y="2457450"/>
            <a:ext cx="1905000" cy="49530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C8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82157" y="2579370"/>
            <a:ext cx="684085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4A5568"/>
                </a:solidFill>
                <a:latin typeface="Segoe UI"/>
              </a:rPr>
              <a:t>ステージング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50365" y="2758916"/>
            <a:ext cx="1347668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8B939E"/>
                </a:solidFill>
                <a:latin typeface="Segoe UI"/>
              </a:rPr>
              <a:t>旧 v1.0（ロールバック用）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0" y="2457450"/>
            <a:ext cx="1905000" cy="495300"/>
          </a:xfrm>
          <a:prstGeom prst="roundRect">
            <a:avLst>
              <a:gd name="adj" fmla="val 15384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67400" y="2579370"/>
            <a:ext cx="228600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本番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08640" y="2758916"/>
            <a:ext cx="946118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00D4FF"/>
                </a:solidFill>
                <a:latin typeface="Segoe UI"/>
              </a:rPr>
              <a:t>新 v2.0 が稼働 🚀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39000" y="914400"/>
            <a:ext cx="1600200" cy="2047875"/>
          </a:xfrm>
          <a:prstGeom prst="roundRect">
            <a:avLst>
              <a:gd name="adj" fmla="val 4761"/>
            </a:avLst>
          </a:prstGeom>
          <a:solidFill>
            <a:srgbClr val="FFFFFF"/>
          </a:solidFill>
          <a:ln w="12700">
            <a:solidFill>
              <a:srgbClr val="C8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239000" y="914400"/>
            <a:ext cx="1600200" cy="5715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26035" y="1045845"/>
            <a:ext cx="1026128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E2328"/>
                </a:solidFill>
                <a:latin typeface="Segoe UI"/>
              </a:rPr>
              <a:t>スロットのメリット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381875" y="1219200"/>
            <a:ext cx="1314450" cy="0"/>
          </a:xfrm>
          <a:prstGeom prst="line">
            <a:avLst/>
          </a:prstGeom>
          <a:ln w="12700">
            <a:solidFill>
              <a:srgbClr val="EEF1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381875" y="1320641"/>
            <a:ext cx="1001125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4A5568"/>
                </a:solidFill>
                <a:latin typeface="Segoe UI"/>
              </a:rPr>
              <a:t>✅ ゼロダウンタイム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77125" y="1490662"/>
            <a:ext cx="855106" cy="1333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>
                <a:solidFill>
                  <a:srgbClr val="8B939E"/>
                </a:solidFill>
                <a:latin typeface="Segoe UI"/>
              </a:rPr>
              <a:t>スワップで瞬時切替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81875" y="1673066"/>
            <a:ext cx="1001125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4A5568"/>
                </a:solidFill>
                <a:latin typeface="Segoe UI"/>
              </a:rPr>
              <a:t>✅ 即時ロールバック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77125" y="1843087"/>
            <a:ext cx="950118" cy="1333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>
                <a:solidFill>
                  <a:srgbClr val="8B939E"/>
                </a:solidFill>
                <a:latin typeface="Segoe UI"/>
              </a:rPr>
              <a:t>旧版を保持し即切戻し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81875" y="2025491"/>
            <a:ext cx="792099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4A5568"/>
                </a:solidFill>
                <a:latin typeface="Segoe UI"/>
              </a:rPr>
              <a:t>✅ 本番前テスト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77125" y="2195512"/>
            <a:ext cx="855106" cy="1333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>
                <a:solidFill>
                  <a:srgbClr val="8B939E"/>
                </a:solidFill>
                <a:latin typeface="Segoe UI"/>
              </a:rPr>
              <a:t>本番と同環境で検証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81875" y="2377916"/>
            <a:ext cx="896612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4A5568"/>
                </a:solidFill>
                <a:latin typeface="Segoe UI"/>
              </a:rPr>
              <a:t>✅ 環境設定の分離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77125" y="2547937"/>
            <a:ext cx="1045130" cy="1333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>
                <a:solidFill>
                  <a:srgbClr val="8B939E"/>
                </a:solidFill>
                <a:latin typeface="Segoe UI"/>
              </a:rPr>
              <a:t>スロットごとに設定変更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81875" y="2730341"/>
            <a:ext cx="1001125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4A5568"/>
                </a:solidFill>
                <a:latin typeface="Segoe UI"/>
              </a:rPr>
              <a:t>✅ カナリアリリース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77125" y="2900362"/>
            <a:ext cx="1045130" cy="1333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>
                <a:solidFill>
                  <a:srgbClr val="8B939E"/>
                </a:solidFill>
                <a:latin typeface="Segoe UI"/>
              </a:rPr>
              <a:t>トラフィック分割で検証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81000" y="3124200"/>
            <a:ext cx="6667500" cy="66675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12700">
            <a:solidFill>
              <a:srgbClr val="C8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381000" y="3124200"/>
            <a:ext cx="57150" cy="666750"/>
          </a:xfrm>
          <a:prstGeom prst="roundRect">
            <a:avLst>
              <a:gd name="adj" fmla="val 50000"/>
            </a:avLst>
          </a:prstGeom>
          <a:solidFill>
            <a:srgbClr val="2A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0550" y="3247548"/>
            <a:ext cx="864608" cy="173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1E2328"/>
                </a:solidFill>
                <a:latin typeface="Segoe UI"/>
              </a:rPr>
              <a:t>利用条件・制限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0550" y="3465195"/>
            <a:ext cx="4836604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4A5568"/>
                </a:solidFill>
                <a:latin typeface="Segoe UI"/>
              </a:rPr>
              <a:t>• Standard プラン以上で利用可能（S: 5 スロット、P: 20 スロット、I: 20 スロット）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0550" y="3636645"/>
            <a:ext cx="4764595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4A5568"/>
                </a:solidFill>
                <a:latin typeface="Segoe UI"/>
              </a:rPr>
              <a:t>• スロットは同じ App Service Plan 内のリソースを共有するため、本番への影響に注意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81000" y="4948237"/>
            <a:ext cx="2330291" cy="1333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>
                <a:solidFill>
                  <a:srgbClr val="00D4FF"/>
                </a:solidFill>
                <a:latin typeface="Segoe UI"/>
                <a:hlinkClick r:id="rId2"/>
              </a:rPr>
              <a:t>📖 MS Learn — ステージング環境のセットアップ →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5F7FA"/>
              </a:gs>
              <a:gs pos="100000">
                <a:srgbClr val="EEF1F5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gradFill rotWithShape="1">
            <a:gsLst>
              <a:gs pos="0">
                <a:srgbClr val="0D1B2A"/>
              </a:gs>
              <a:gs pos="100000">
                <a:srgbClr val="1A3A4A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237172"/>
            <a:ext cx="2470308" cy="3467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FFFFFF"/>
                </a:solidFill>
                <a:latin typeface="Segoe UI"/>
              </a:rPr>
              <a:t>代表的なユースケース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14955" y="342423"/>
            <a:ext cx="357544" cy="1733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75">
                <a:solidFill>
                  <a:srgbClr val="8B939E"/>
                </a:solidFill>
                <a:latin typeface="Segoe UI"/>
              </a:rPr>
              <a:t>6 /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1000" y="838200"/>
            <a:ext cx="4095750" cy="1714500"/>
          </a:xfrm>
          <a:prstGeom prst="roundRect">
            <a:avLst>
              <a:gd name="adj" fmla="val 5555"/>
            </a:avLst>
          </a:prstGeom>
          <a:gradFill rotWithShape="1">
            <a:gsLst>
              <a:gs pos="0">
                <a:srgbClr val="1B2A4A"/>
              </a:gs>
              <a:gs pos="100000">
                <a:srgbClr val="1A3A4A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1500" y="916305"/>
            <a:ext cx="533400" cy="37337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>
                <a:solidFill>
                  <a:srgbClr val="FFFFFF"/>
                </a:solidFill>
                <a:latin typeface="Segoe UI"/>
              </a:rPr>
              <a:t>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" y="1002506"/>
            <a:ext cx="1942742" cy="2000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FFFFFF"/>
                </a:solidFill>
                <a:latin typeface="Segoe UI"/>
              </a:rPr>
              <a:t>企業 Web サイト・EC サイト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71500" y="1219200"/>
            <a:ext cx="3714750" cy="0"/>
          </a:xfrm>
          <a:prstGeom prst="line">
            <a:avLst/>
          </a:prstGeom>
          <a:ln w="12700">
            <a:solidFill>
              <a:srgbClr val="2A7A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1500" y="1331595"/>
            <a:ext cx="2358294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B0C4D8"/>
                </a:solidFill>
                <a:latin typeface="Segoe UI"/>
              </a:rPr>
              <a:t>• コーポレートサイト〜大規模 EC まで対応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1522095"/>
            <a:ext cx="2730341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B0C4D8"/>
                </a:solidFill>
                <a:latin typeface="Segoe UI"/>
              </a:rPr>
              <a:t>• WordPress / Laravel などをそのまま移行可能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1712595"/>
            <a:ext cx="3120389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B0C4D8"/>
                </a:solidFill>
                <a:latin typeface="Segoe UI"/>
              </a:rPr>
              <a:t>• CDN・Traffic Manager と組み合わせてグローバル配信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1903095"/>
            <a:ext cx="2094261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B0C4D8"/>
                </a:solidFill>
                <a:latin typeface="Segoe UI"/>
              </a:rPr>
              <a:t>• 自動スケールでアクセス集中にも対応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" y="2171700"/>
            <a:ext cx="1905000" cy="247650"/>
          </a:xfrm>
          <a:prstGeom prst="roundRect">
            <a:avLst>
              <a:gd name="adj" fmla="val 50000"/>
            </a:avLst>
          </a:prstGeom>
          <a:solidFill>
            <a:srgbClr val="1A3A4A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7895" y="2254091"/>
            <a:ext cx="1672208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00D4FF"/>
                </a:solidFill>
                <a:latin typeface="Segoe UI"/>
              </a:rPr>
              <a:t>Standard / Premium プラン推奨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7250" y="838200"/>
            <a:ext cx="4095750" cy="1714500"/>
          </a:xfrm>
          <a:prstGeom prst="roundRect">
            <a:avLst>
              <a:gd name="adj" fmla="val 5555"/>
            </a:avLst>
          </a:prstGeom>
          <a:gradFill rotWithShape="1">
            <a:gsLst>
              <a:gs pos="0">
                <a:srgbClr val="1A3A4A"/>
              </a:gs>
              <a:gs pos="100000">
                <a:srgbClr val="2A7A8C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57750" y="916305"/>
            <a:ext cx="533400" cy="37337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>
                <a:solidFill>
                  <a:srgbClr val="FFFFFF"/>
                </a:solidFill>
                <a:latin typeface="Segoe UI"/>
              </a:rPr>
              <a:t>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86375" y="1002506"/>
            <a:ext cx="2047755" cy="2000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FFFFFF"/>
                </a:solidFill>
                <a:latin typeface="Segoe UI"/>
              </a:rPr>
              <a:t>REST API / マイクロサービス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57750" y="1219200"/>
            <a:ext cx="3714750" cy="0"/>
          </a:xfrm>
          <a:prstGeom prst="line">
            <a:avLst/>
          </a:prstGeom>
          <a:ln w="12700">
            <a:solidFill>
              <a:srgbClr val="1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857750" y="1331595"/>
            <a:ext cx="2670333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B0C4D8"/>
                </a:solidFill>
                <a:latin typeface="Segoe UI"/>
              </a:rPr>
              <a:t>• Azure API Management との統合で API 公開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57750" y="1522095"/>
            <a:ext cx="3204400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B0C4D8"/>
                </a:solidFill>
                <a:latin typeface="Segoe UI"/>
              </a:rPr>
              <a:t>• .NET / Java / Node.js / Python で REST API 構築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57750" y="1712595"/>
            <a:ext cx="2346293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B0C4D8"/>
                </a:solidFill>
                <a:latin typeface="Segoe UI"/>
              </a:rPr>
              <a:t>• VNet 統合でセキュアなバックエンド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57750" y="1903095"/>
            <a:ext cx="1560195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B0C4D8"/>
                </a:solidFill>
                <a:latin typeface="Segoe UI"/>
              </a:rPr>
              <a:t>• OpenAPI Spec との相性◎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57750" y="2171700"/>
            <a:ext cx="1905000" cy="247650"/>
          </a:xfrm>
          <a:prstGeom prst="roundRect">
            <a:avLst>
              <a:gd name="adj" fmla="val 50000"/>
            </a:avLst>
          </a:prstGeom>
          <a:solidFill>
            <a:srgbClr val="1A3A4A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43891" y="2254091"/>
            <a:ext cx="1732716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00D4FF"/>
                </a:solidFill>
                <a:latin typeface="Segoe UI"/>
              </a:rPr>
              <a:t>Standard / Isolated プラン推奨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1000" y="2714625"/>
            <a:ext cx="4095750" cy="1571625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 w="12700">
            <a:solidFill>
              <a:srgbClr val="C8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81000" y="2714625"/>
            <a:ext cx="57150" cy="1571625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0550" y="2773680"/>
            <a:ext cx="533400" cy="37337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>
                <a:solidFill>
                  <a:srgbClr val="1B2A4A"/>
                </a:solidFill>
                <a:latin typeface="Segoe UI"/>
              </a:rPr>
              <a:t>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9175" y="2859881"/>
            <a:ext cx="1995249" cy="2000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1E2328"/>
                </a:solidFill>
                <a:latin typeface="Segoe UI"/>
              </a:rPr>
              <a:t>社内業務アプリのクラウド移行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90550" y="3067050"/>
            <a:ext cx="3695700" cy="0"/>
          </a:xfrm>
          <a:prstGeom prst="line">
            <a:avLst/>
          </a:prstGeom>
          <a:ln w="12700">
            <a:solidFill>
              <a:srgbClr val="EEF1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90550" y="3160395"/>
            <a:ext cx="2424303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4A5568"/>
                </a:solidFill>
                <a:latin typeface="Segoe UI"/>
              </a:rPr>
              <a:t>• オンプレ Web アプリのリフト＆シフト移行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0550" y="3350895"/>
            <a:ext cx="2574321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4A5568"/>
                </a:solidFill>
                <a:latin typeface="Segoe UI"/>
              </a:rPr>
              <a:t>• Azure AD 認証で社員認証をシームレスに統合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0550" y="3541395"/>
            <a:ext cx="2538317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4A5568"/>
                </a:solidFill>
                <a:latin typeface="Segoe UI"/>
              </a:rPr>
              <a:t>• VNet 統合・ハイブリッド接続でオンプレ連携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0550" y="3731895"/>
            <a:ext cx="2688336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4A5568"/>
                </a:solidFill>
                <a:latin typeface="Segoe UI"/>
              </a:rPr>
              <a:t>• Isolated プランで完全プライベート環境を実現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0550" y="3981450"/>
            <a:ext cx="1714500" cy="20955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C8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8465" y="4044791"/>
            <a:ext cx="1358669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4A5568"/>
                </a:solidFill>
                <a:latin typeface="Segoe UI"/>
              </a:rPr>
              <a:t>Isolated / Premium 推奨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667250" y="2714625"/>
            <a:ext cx="4095750" cy="1571625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 w="12700">
            <a:solidFill>
              <a:srgbClr val="C8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667250" y="2714625"/>
            <a:ext cx="57150" cy="1571625"/>
          </a:xfrm>
          <a:prstGeom prst="roundRect">
            <a:avLst>
              <a:gd name="adj" fmla="val 50000"/>
            </a:avLst>
          </a:prstGeom>
          <a:solidFill>
            <a:srgbClr val="2A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76800" y="2773680"/>
            <a:ext cx="533400" cy="37337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>
                <a:solidFill>
                  <a:srgbClr val="2A7A8C"/>
                </a:solidFill>
                <a:latin typeface="Segoe UI"/>
              </a:rPr>
              <a:t>📱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05425" y="2859881"/>
            <a:ext cx="1852731" cy="2000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1E2328"/>
                </a:solidFill>
                <a:latin typeface="Segoe UI"/>
              </a:rPr>
              <a:t>モバイルアプリバックエンド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4876800" y="3067050"/>
            <a:ext cx="3695700" cy="0"/>
          </a:xfrm>
          <a:prstGeom prst="line">
            <a:avLst/>
          </a:prstGeom>
          <a:ln w="12700">
            <a:solidFill>
              <a:srgbClr val="EEF1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876800" y="3160395"/>
            <a:ext cx="2892361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4A5568"/>
                </a:solidFill>
                <a:latin typeface="Segoe UI"/>
              </a:rPr>
              <a:t>• iOS / Android 向け API バックエンドを迅速構築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76800" y="3350895"/>
            <a:ext cx="2742342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4A5568"/>
                </a:solidFill>
                <a:latin typeface="Segoe UI"/>
              </a:rPr>
              <a:t>• Azure Notification Hubs / Storage と連携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76800" y="3541395"/>
            <a:ext cx="2322290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4A5568"/>
                </a:solidFill>
                <a:latin typeface="Segoe UI"/>
              </a:rPr>
              <a:t>• プッシュ通知・オフライン同期も対応可能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76800" y="3731895"/>
            <a:ext cx="2748343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4A5568"/>
                </a:solidFill>
                <a:latin typeface="Segoe UI"/>
              </a:rPr>
              <a:t>• GitHub Actions で CI/CD パイプライン自動化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876800" y="3981450"/>
            <a:ext cx="1714500" cy="20955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C8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15222" y="4044791"/>
            <a:ext cx="1237654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4A5568"/>
                </a:solidFill>
                <a:latin typeface="Segoe UI"/>
              </a:rPr>
              <a:t>Standard / Basic 推奨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81000" y="4948237"/>
            <a:ext cx="1945243" cy="1333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>
                <a:solidFill>
                  <a:srgbClr val="00D4FF"/>
                </a:solidFill>
                <a:latin typeface="Segoe UI"/>
                <a:hlinkClick r:id="rId2"/>
              </a:rPr>
              <a:t>📖 MS Learn — App Service の使い方 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D1B2A"/>
              </a:gs>
              <a:gs pos="100000">
                <a:srgbClr val="1B2A4A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0" y="1714500"/>
            <a:ext cx="5715000" cy="5715000"/>
          </a:xfrm>
          <a:prstGeom prst="ellipse">
            <a:avLst/>
          </a:prstGeom>
          <a:solidFill>
            <a:srgbClr val="1A3A4A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048500" y="1905000"/>
            <a:ext cx="3429000" cy="3429000"/>
          </a:xfrm>
          <a:prstGeom prst="ellipse">
            <a:avLst/>
          </a:prstGeom>
          <a:solidFill>
            <a:srgbClr val="2A7A8C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29250" y="-571500"/>
            <a:ext cx="3429000" cy="3429000"/>
          </a:xfrm>
          <a:prstGeom prst="ellipse">
            <a:avLst/>
          </a:prstGeom>
          <a:gradFill rotWithShape="1">
            <a:gsLst>
              <a:gs pos="0">
                <a:srgbClr val="00D4FF">
                  <a:alpha val="10000"/>
                </a:srgbClr>
              </a:gs>
              <a:gs pos="100000">
                <a:srgbClr val="00D4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162925" y="542925"/>
            <a:ext cx="57150" cy="57150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43925" y="352425"/>
            <a:ext cx="57150" cy="57150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829675" y="733425"/>
            <a:ext cx="57150" cy="57150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48675" y="923925"/>
            <a:ext cx="57150" cy="57150"/>
          </a:xfrm>
          <a:prstGeom prst="ellipse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 flipV="1">
            <a:off x="8191500" y="381000"/>
            <a:ext cx="381000" cy="190500"/>
          </a:xfrm>
          <a:prstGeom prst="line">
            <a:avLst/>
          </a:prstGeom>
          <a:ln w="12700">
            <a:solidFill>
              <a:srgbClr val="FFFFFF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572500" y="381000"/>
            <a:ext cx="285750" cy="381000"/>
          </a:xfrm>
          <a:prstGeom prst="line">
            <a:avLst/>
          </a:prstGeom>
          <a:ln w="12700">
            <a:solidFill>
              <a:srgbClr val="FFFFFF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8477250" y="762000"/>
            <a:ext cx="381000" cy="190500"/>
          </a:xfrm>
          <a:prstGeom prst="line">
            <a:avLst/>
          </a:prstGeom>
          <a:ln w="12700">
            <a:solidFill>
              <a:srgbClr val="FFFFFF">
                <a:alpha val="1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71500" y="762000"/>
            <a:ext cx="38100" cy="3238500"/>
          </a:xfrm>
          <a:prstGeom prst="rect">
            <a:avLst/>
          </a:prstGeom>
          <a:solidFill>
            <a:srgbClr val="00D4F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" y="852487"/>
            <a:ext cx="855106" cy="4000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FFFFFF"/>
                </a:solidFill>
                <a:latin typeface="Segoe UI"/>
              </a:rPr>
              <a:t>まとめ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2000" y="1190625"/>
            <a:ext cx="1714500" cy="0"/>
          </a:xfrm>
          <a:prstGeom prst="line">
            <a:avLst/>
          </a:prstGeom>
          <a:ln w="254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762000" y="1428750"/>
            <a:ext cx="152400" cy="15240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3425" y="1463516"/>
            <a:ext cx="209550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5" b="1">
                <a:solidFill>
                  <a:srgbClr val="0D1B2A"/>
                </a:solidFill>
                <a:latin typeface="Segoe U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" y="1439227"/>
            <a:ext cx="1316164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フルマネージド PaaS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8700" y="1636395"/>
            <a:ext cx="4584572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B0C4D8"/>
                </a:solidFill>
                <a:latin typeface="Segoe UI"/>
              </a:rPr>
              <a:t>OS・ミドルウェア・セキュリティパッチの管理は Azure が担当。開発者はコードに集中</a:t>
            </a:r>
          </a:p>
        </p:txBody>
      </p:sp>
      <p:sp>
        <p:nvSpPr>
          <p:cNvPr id="20" name="Oval 19"/>
          <p:cNvSpPr/>
          <p:nvPr/>
        </p:nvSpPr>
        <p:spPr>
          <a:xfrm>
            <a:off x="762000" y="1971675"/>
            <a:ext cx="152400" cy="15240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3425" y="2006441"/>
            <a:ext cx="209550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5" b="1">
                <a:solidFill>
                  <a:srgbClr val="0D1B2A"/>
                </a:solidFill>
                <a:latin typeface="Segoe U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8700" y="1982152"/>
            <a:ext cx="1428178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マルチ言語・マルチ 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" y="2179320"/>
            <a:ext cx="4776597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B0C4D8"/>
                </a:solidFill>
                <a:latin typeface="Segoe UI"/>
              </a:rPr>
              <a:t>.NET / Java / Node.js / Python / PHP / Ruby、Windows・Linux・Docker に対応</a:t>
            </a:r>
          </a:p>
        </p:txBody>
      </p:sp>
      <p:sp>
        <p:nvSpPr>
          <p:cNvPr id="24" name="Oval 23"/>
          <p:cNvSpPr/>
          <p:nvPr/>
        </p:nvSpPr>
        <p:spPr>
          <a:xfrm>
            <a:off x="762000" y="2514600"/>
            <a:ext cx="152400" cy="15240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3425" y="2549366"/>
            <a:ext cx="209550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5" b="1">
                <a:solidFill>
                  <a:srgbClr val="0D1B2A"/>
                </a:solidFill>
                <a:latin typeface="Segoe U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" y="2525077"/>
            <a:ext cx="1463182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高可用性・自動スケール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8700" y="2722245"/>
            <a:ext cx="4152519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B0C4D8"/>
                </a:solidFill>
                <a:latin typeface="Segoe UI"/>
              </a:rPr>
              <a:t>SLA 99.95%。負荷に応じた自動スケールアウト、ゾーン冗長（Premium 以上）</a:t>
            </a:r>
          </a:p>
        </p:txBody>
      </p:sp>
      <p:sp>
        <p:nvSpPr>
          <p:cNvPr id="28" name="Oval 27"/>
          <p:cNvSpPr/>
          <p:nvPr/>
        </p:nvSpPr>
        <p:spPr>
          <a:xfrm>
            <a:off x="762000" y="3057525"/>
            <a:ext cx="152400" cy="15240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3425" y="3092291"/>
            <a:ext cx="209550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5" b="1">
                <a:solidFill>
                  <a:srgbClr val="0D1B2A"/>
                </a:solidFill>
                <a:latin typeface="Segoe U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8700" y="3068002"/>
            <a:ext cx="1197149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安全なリリース管理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8700" y="3265170"/>
            <a:ext cx="4728590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B0C4D8"/>
                </a:solidFill>
                <a:latin typeface="Segoe UI"/>
              </a:rPr>
              <a:t>デプロイスロットでゼロダウンタイムデプロイ。CI/CD で自動デプロイ・即時ロールバック</a:t>
            </a:r>
          </a:p>
        </p:txBody>
      </p:sp>
      <p:sp>
        <p:nvSpPr>
          <p:cNvPr id="32" name="Oval 31"/>
          <p:cNvSpPr/>
          <p:nvPr/>
        </p:nvSpPr>
        <p:spPr>
          <a:xfrm>
            <a:off x="762000" y="3600450"/>
            <a:ext cx="152400" cy="15240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3425" y="3635216"/>
            <a:ext cx="209550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5" b="1">
                <a:solidFill>
                  <a:srgbClr val="0D1B2A"/>
                </a:solidFill>
                <a:latin typeface="Segoe U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8700" y="3610927"/>
            <a:ext cx="1064133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柔軟なプラン選択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8700" y="3808095"/>
            <a:ext cx="4506563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B0C4D8"/>
                </a:solidFill>
                <a:latin typeface="Segoe UI"/>
              </a:rPr>
              <a:t>無料から Isolated まで 5 段階。ワークロードとセキュリティ要件に応じて選択可能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71500" y="4114800"/>
            <a:ext cx="8001000" cy="666750"/>
          </a:xfrm>
          <a:prstGeom prst="roundRect">
            <a:avLst>
              <a:gd name="adj" fmla="val 11428"/>
            </a:avLst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2000" y="4227195"/>
            <a:ext cx="2484310" cy="16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B0C4D8"/>
                </a:solidFill>
                <a:latin typeface="Segoe UI"/>
              </a:rPr>
              <a:t>📚 参考リンク（MS Learn 公式ドキュメント）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2000" y="4425791"/>
            <a:ext cx="4791098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00D4FF"/>
                </a:solidFill>
                <a:latin typeface="Segoe UI"/>
                <a:hlinkClick r:id="rId2"/>
              </a:rPr>
              <a:t>• Azure App Service 概要 → learn.microsoft.com/ja-jp/azure/app-service/overview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2000" y="4597241"/>
            <a:ext cx="5693211" cy="146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5">
                <a:solidFill>
                  <a:srgbClr val="00D4FF"/>
                </a:solidFill>
                <a:latin typeface="Segoe UI"/>
                <a:hlinkClick r:id="rId3"/>
              </a:rPr>
              <a:t>• App Service プランの概要 → learn.microsoft.com/ja-jp/azure/app-service/overview-hosting-plans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